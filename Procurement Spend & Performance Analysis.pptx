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59" r:id="rId1"/>
  </p:sldMasterIdLst>
  <p:notesMasterIdLst>
    <p:notesMasterId r:id="rId14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sldSz cx="12192000" cy="6858000"/>
  <p:notesSz cx="6858000" cy="9144000"/>
  <p:embeddedFontLst>
    <p:embeddedFont>
      <p:font typeface="JetBrains Mono" panose="020B0604020202020204" charset="0"/>
      <p:regular r:id="rId15"/>
      <p:bold r:id="rId16"/>
      <p:italic r:id="rId17"/>
      <p:boldItalic r:id="rId18"/>
    </p:embeddedFont>
    <p:embeddedFont>
      <p:font typeface="Urbanist" panose="020B0604020202020204" charset="0"/>
      <p:regular r:id="rId19"/>
      <p:bold r:id="rId20"/>
      <p:italic r:id="rId21"/>
      <p:boldItalic r:id="rId22"/>
    </p:embeddedFont>
    <p:embeddedFont>
      <p:font typeface="Urbanist SemiBold" panose="020B0604020202020204" charset="0"/>
      <p:regular r:id="rId23"/>
      <p:bold r:id="rId24"/>
      <p:italic r:id="rId25"/>
      <p:boldItalic r:id="rId26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000000"/>
          </p15:clr>
        </p15:guide>
        <p15:guide id="2" pos="2880">
          <p15:clr>
            <a:srgbClr val="000000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C3D0135F-C7AB-493F-8C5F-AF4BD23ACE1A}">
  <a:tblStyle styleId="{C3D0135F-C7AB-493F-8C5F-AF4BD23ACE1A}" styleName="Table_0">
    <a:wholeTbl>
      <a:tcTxStyle b="off" i="off">
        <a:font>
          <a:latin typeface="Calibri"/>
          <a:ea typeface="Calibri"/>
          <a:cs typeface="Calibri"/>
        </a:font>
        <a:schemeClr val="dk1"/>
      </a:tcTxStyle>
      <a:tcStyle>
        <a:tcBdr>
          <a:left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insideV>
        </a:tcBdr>
        <a:fill>
          <a:solidFill>
            <a:srgbClr val="E8ECF4"/>
          </a:solidFill>
        </a:fill>
      </a:tcStyle>
    </a:wholeTbl>
    <a:band1H>
      <a:tcTxStyle/>
      <a:tcStyle>
        <a:tcBdr/>
        <a:fill>
          <a:solidFill>
            <a:srgbClr val="CFD7E7"/>
          </a:solidFill>
        </a:fill>
      </a:tcStyle>
    </a:band1H>
    <a:band2H>
      <a:tcTxStyle/>
      <a:tcStyle>
        <a:tcBdr/>
      </a:tcStyle>
    </a:band2H>
    <a:band1V>
      <a:tcTxStyle/>
      <a:tcStyle>
        <a:tcBdr/>
        <a:fill>
          <a:solidFill>
            <a:srgbClr val="CFD7E7"/>
          </a:solidFill>
        </a:fill>
      </a:tcStyle>
    </a:band1V>
    <a:band2V>
      <a:tcTxStyle/>
      <a:tcStyle>
        <a:tcBdr/>
      </a:tcStyle>
    </a:band2V>
    <a:lastCol>
      <a:tcTxStyle b="on" i="off">
        <a:font>
          <a:latin typeface="Calibri"/>
          <a:ea typeface="Calibri"/>
          <a:cs typeface="Calibri"/>
        </a:font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 i="off">
        <a:font>
          <a:latin typeface="Calibri"/>
          <a:ea typeface="Calibri"/>
          <a:cs typeface="Calibri"/>
        </a:font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 i="off">
        <a:font>
          <a:latin typeface="Calibri"/>
          <a:ea typeface="Calibri"/>
          <a:cs typeface="Calibri"/>
        </a:font>
        <a:schemeClr val="lt1"/>
      </a:tcTxStyle>
      <a:tcStyle>
        <a:tcBdr>
          <a:top>
            <a:ln w="381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top>
        </a:tcBdr>
        <a:fill>
          <a:solidFill>
            <a:schemeClr val="accent1"/>
          </a:solidFill>
        </a:fill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 b="on" i="off">
        <a:font>
          <a:latin typeface="Calibri"/>
          <a:ea typeface="Calibri"/>
          <a:cs typeface="Calibri"/>
        </a:font>
        <a:schemeClr val="lt1"/>
      </a:tcTxStyle>
      <a:tcStyle>
        <a:tcBdr>
          <a:bottom>
            <a:ln w="381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bottom>
        </a:tcBdr>
        <a:fill>
          <a:solidFill>
            <a:schemeClr val="accent1"/>
          </a:solidFill>
        </a:fill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11" d="100"/>
          <a:sy n="111" d="100"/>
        </p:scale>
        <p:origin x="402" y="96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font" Target="fonts/font4.fntdata"/><Relationship Id="rId26" Type="http://schemas.openxmlformats.org/officeDocument/2006/relationships/font" Target="fonts/font12.fntdata"/><Relationship Id="rId3" Type="http://schemas.openxmlformats.org/officeDocument/2006/relationships/slide" Target="slides/slide2.xml"/><Relationship Id="rId21" Type="http://schemas.openxmlformats.org/officeDocument/2006/relationships/font" Target="fonts/font7.fntdata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font" Target="fonts/font3.fntdata"/><Relationship Id="rId25" Type="http://schemas.openxmlformats.org/officeDocument/2006/relationships/font" Target="fonts/font11.fntdata"/><Relationship Id="rId2" Type="http://schemas.openxmlformats.org/officeDocument/2006/relationships/slide" Target="slides/slide1.xml"/><Relationship Id="rId16" Type="http://schemas.openxmlformats.org/officeDocument/2006/relationships/font" Target="fonts/font2.fntdata"/><Relationship Id="rId20" Type="http://schemas.openxmlformats.org/officeDocument/2006/relationships/font" Target="fonts/font6.fntdata"/><Relationship Id="rId29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font" Target="fonts/font10.fntdata"/><Relationship Id="rId5" Type="http://schemas.openxmlformats.org/officeDocument/2006/relationships/slide" Target="slides/slide4.xml"/><Relationship Id="rId15" Type="http://schemas.openxmlformats.org/officeDocument/2006/relationships/font" Target="fonts/font1.fntdata"/><Relationship Id="rId23" Type="http://schemas.openxmlformats.org/officeDocument/2006/relationships/font" Target="fonts/font9.fntdata"/><Relationship Id="rId28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font" Target="fonts/font5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notesMaster" Target="notesMasters/notesMaster1.xml"/><Relationship Id="rId22" Type="http://schemas.openxmlformats.org/officeDocument/2006/relationships/font" Target="fonts/font8.fntdata"/><Relationship Id="rId27" Type="http://schemas.openxmlformats.org/officeDocument/2006/relationships/presProps" Target="presProps.xml"/><Relationship Id="rId3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2" name="Google Shape;82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Google Shape;90;p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1" name="Google Shape;91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4" name="Google Shape;104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" name="Google Shape;122;p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23" name="Google Shape;123;p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2" name="Google Shape;132;p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9" name="Google Shape;169;p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70" name="Google Shape;170;p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88" name="Google Shape;188;p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6" name="Google Shape;206;p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07" name="Google Shape;207;p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9" name="Google Shape;219;p9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1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38" name="Google Shape;238;p1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1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56" name="Google Shape;256;p1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2" name="Google Shape;272;p1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73" name="Google Shape;273;p1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2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3" name="Google Shape;13;p2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4" name="Google Shape;14;p2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3"/>
          <p:cNvSpPr txBox="1"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7" name="Google Shape;17;p3"/>
          <p:cNvSpPr txBox="1"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ctr">
              <a:spcBef>
                <a:spcPts val="640"/>
              </a:spcBef>
              <a:spcAft>
                <a:spcPts val="0"/>
              </a:spcAft>
              <a:buClr>
                <a:srgbClr val="888888"/>
              </a:buClr>
              <a:buSzPts val="3200"/>
              <a:buNone/>
              <a:defRPr>
                <a:solidFill>
                  <a:srgbClr val="888888"/>
                </a:solidFill>
              </a:defRPr>
            </a:lvl1pPr>
            <a:lvl2pPr lvl="1" algn="ctr">
              <a:spcBef>
                <a:spcPts val="560"/>
              </a:spcBef>
              <a:spcAft>
                <a:spcPts val="0"/>
              </a:spcAft>
              <a:buClr>
                <a:srgbClr val="888888"/>
              </a:buClr>
              <a:buSzPts val="2800"/>
              <a:buNone/>
              <a:defRPr>
                <a:solidFill>
                  <a:srgbClr val="888888"/>
                </a:solidFill>
              </a:defRPr>
            </a:lvl2pPr>
            <a:lvl3pPr lvl="2" algn="ctr">
              <a:spcBef>
                <a:spcPts val="48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>
                <a:solidFill>
                  <a:srgbClr val="888888"/>
                </a:solidFill>
              </a:defRPr>
            </a:lvl3pPr>
            <a:lvl4pPr lvl="3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4pPr>
            <a:lvl5pPr lvl="4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5pPr>
            <a:lvl6pPr lvl="5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6pPr>
            <a:lvl7pPr lvl="6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7pPr>
            <a:lvl8pPr lvl="7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8pPr>
            <a:lvl9pPr lvl="8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18" name="Google Shape;18;p3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9" name="Google Shape;19;p3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0" name="Google Shape;20;p3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Content" type="obj">
  <p:cSld name="OBJECT">
    <p:spTree>
      <p:nvGrpSpPr>
        <p:cNvPr id="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4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3" name="Google Shape;23;p4"/>
          <p:cNvSpPr txBox="1"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24" name="Google Shape;24;p4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5" name="Google Shape;25;p4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6" name="Google Shape;26;p4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5"/>
          <p:cNvSpPr txBox="1"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0"/>
              <a:buFont typeface="Calibri"/>
              <a:buNone/>
              <a:defRPr sz="4000" b="1" cap="none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9" name="Google Shape;29;p5"/>
          <p:cNvSpPr txBox="1"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1pPr>
            <a:lvl2pPr marL="914400" lvl="1" indent="-228600" algn="l">
              <a:spcBef>
                <a:spcPts val="36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marL="1371600" lvl="2" indent="-228600" algn="l"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marL="1828800" lvl="3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marL="2286000" lvl="4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marL="2743200" lvl="5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marL="3200400" lvl="6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marL="3657600" lvl="7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marL="4114800" lvl="8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30" name="Google Shape;30;p5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1" name="Google Shape;31;p5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2" name="Google Shape;32;p5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wo Content" type="twoObj">
  <p:cSld name="TWO_OBJECTS">
    <p:spTree>
      <p:nvGrpSpPr>
        <p:cNvPr id="1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6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5" name="Google Shape;35;p6"/>
          <p:cNvSpPr txBox="1">
            <a:spLocks noGrp="1"/>
          </p:cNvSpPr>
          <p:nvPr>
            <p:ph type="body" idx="1"/>
          </p:nvPr>
        </p:nvSpPr>
        <p:spPr>
          <a:xfrm>
            <a:off x="457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064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marL="914400" lvl="1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marL="1371600" lvl="2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>
            <a:endParaRPr/>
          </a:p>
        </p:txBody>
      </p:sp>
      <p:sp>
        <p:nvSpPr>
          <p:cNvPr id="36" name="Google Shape;36;p6"/>
          <p:cNvSpPr txBox="1">
            <a:spLocks noGrp="1"/>
          </p:cNvSpPr>
          <p:nvPr>
            <p:ph type="body" idx="2"/>
          </p:nvPr>
        </p:nvSpPr>
        <p:spPr>
          <a:xfrm>
            <a:off x="4648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064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marL="914400" lvl="1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marL="1371600" lvl="2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>
            <a:endParaRPr/>
          </a:p>
        </p:txBody>
      </p:sp>
      <p:sp>
        <p:nvSpPr>
          <p:cNvPr id="37" name="Google Shape;37;p6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8" name="Google Shape;38;p6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9" name="Google Shape;39;p6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mparison" type="twoTxTwoObj">
  <p:cSld name="TWO_OBJECTS_WITH_TEXT">
    <p:spTree>
      <p:nvGrpSpPr>
        <p:cNvPr id="1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7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2" name="Google Shape;42;p7"/>
          <p:cNvSpPr txBox="1"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43" name="Google Shape;43;p7"/>
          <p:cNvSpPr txBox="1">
            <a:spLocks noGrp="1"/>
          </p:cNvSpPr>
          <p:nvPr>
            <p:ph type="body" idx="2"/>
          </p:nvPr>
        </p:nvSpPr>
        <p:spPr>
          <a:xfrm>
            <a:off x="457200" y="2174875"/>
            <a:ext cx="4040188" cy="39512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marL="914400" lvl="1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marL="1828800" lvl="3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marL="2286000" lvl="4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marL="2743200" lvl="5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marL="3200400" lvl="6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marL="3657600" lvl="7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marL="4114800" lvl="8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>
            <a:endParaRPr/>
          </a:p>
        </p:txBody>
      </p:sp>
      <p:sp>
        <p:nvSpPr>
          <p:cNvPr id="44" name="Google Shape;44;p7"/>
          <p:cNvSpPr txBox="1">
            <a:spLocks noGrp="1"/>
          </p:cNvSpPr>
          <p:nvPr>
            <p:ph type="body" idx="3"/>
          </p:nvPr>
        </p:nvSpPr>
        <p:spPr>
          <a:xfrm>
            <a:off x="4645025" y="1535113"/>
            <a:ext cx="4041775" cy="6397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45" name="Google Shape;45;p7"/>
          <p:cNvSpPr txBox="1">
            <a:spLocks noGrp="1"/>
          </p:cNvSpPr>
          <p:nvPr>
            <p:ph type="body" idx="4"/>
          </p:nvPr>
        </p:nvSpPr>
        <p:spPr>
          <a:xfrm>
            <a:off x="4645025" y="2174875"/>
            <a:ext cx="4041775" cy="39512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marL="914400" lvl="1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marL="1828800" lvl="3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marL="2286000" lvl="4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marL="2743200" lvl="5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marL="3200400" lvl="6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marL="3657600" lvl="7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marL="4114800" lvl="8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>
            <a:endParaRPr/>
          </a:p>
        </p:txBody>
      </p:sp>
      <p:sp>
        <p:nvSpPr>
          <p:cNvPr id="46" name="Google Shape;46;p7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7" name="Google Shape;47;p7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8" name="Google Shape;48;p7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8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1" name="Google Shape;51;p8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2" name="Google Shape;52;p8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3" name="Google Shape;53;p8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ntent with Caption" type="objTx">
  <p:cSld name="OBJECT_WITH_CAPTION_TEXT">
    <p:spTree>
      <p:nvGrpSpPr>
        <p:cNvPr id="1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9"/>
          <p:cNvSpPr txBox="1"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sz="2000" b="1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6" name="Google Shape;56;p9"/>
          <p:cNvSpPr txBox="1">
            <a:spLocks noGrp="1"/>
          </p:cNvSpPr>
          <p:nvPr>
            <p:ph type="body" idx="1"/>
          </p:nvPr>
        </p:nvSpPr>
        <p:spPr>
          <a:xfrm>
            <a:off x="3575050" y="273050"/>
            <a:ext cx="5111750" cy="585311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31800" algn="l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marL="914400" lvl="1" indent="-4064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–"/>
              <a:defRPr sz="2800"/>
            </a:lvl2pPr>
            <a:lvl3pPr marL="1371600" lvl="2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marL="1828800" lvl="3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4pPr>
            <a:lvl5pPr marL="2286000" lvl="4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»"/>
              <a:defRPr sz="2000"/>
            </a:lvl5pPr>
            <a:lvl6pPr marL="2743200" lvl="5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marL="3200400" lvl="6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marL="3657600" lvl="7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marL="4114800" lvl="8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>
            <a:endParaRPr/>
          </a:p>
        </p:txBody>
      </p:sp>
      <p:sp>
        <p:nvSpPr>
          <p:cNvPr id="57" name="Google Shape;57;p9"/>
          <p:cNvSpPr txBox="1">
            <a:spLocks noGrp="1"/>
          </p:cNvSpPr>
          <p:nvPr>
            <p:ph type="body" idx="2"/>
          </p:nvPr>
        </p:nvSpPr>
        <p:spPr>
          <a:xfrm>
            <a:off x="457200" y="1435100"/>
            <a:ext cx="3008313" cy="46910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marL="914400" lvl="1" indent="-2286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marL="1371600" lvl="2" indent="-228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marL="1828800" lvl="3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marL="2286000" lvl="4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marL="2743200" lvl="5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marL="3200400" lvl="6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marL="3657600" lvl="7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marL="4114800" lvl="8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>
            <a:endParaRPr/>
          </a:p>
        </p:txBody>
      </p:sp>
      <p:sp>
        <p:nvSpPr>
          <p:cNvPr id="58" name="Google Shape;58;p9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9" name="Google Shape;59;p9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0" name="Google Shape;60;p9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Picture with Caption" type="picTx">
  <p:cSld name="PICTURE_WITH_CAPTION_TEXT">
    <p:spTree>
      <p:nvGrpSpPr>
        <p:cNvPr id="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10"/>
          <p:cNvSpPr txBox="1"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sz="2000" b="1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3" name="Google Shape;63;p10"/>
          <p:cNvSpPr>
            <a:spLocks noGrp="1"/>
          </p:cNvSpPr>
          <p:nvPr>
            <p:ph type="pic" idx="2"/>
          </p:nvPr>
        </p:nvSpPr>
        <p:spPr>
          <a:xfrm>
            <a:off x="1792288" y="612775"/>
            <a:ext cx="5486400" cy="4114800"/>
          </a:xfrm>
          <a:prstGeom prst="rect">
            <a:avLst/>
          </a:prstGeom>
          <a:noFill/>
          <a:ln>
            <a:noFill/>
          </a:ln>
        </p:spPr>
      </p:sp>
      <p:sp>
        <p:nvSpPr>
          <p:cNvPr id="64" name="Google Shape;64;p10"/>
          <p:cNvSpPr txBox="1">
            <a:spLocks noGrp="1"/>
          </p:cNvSpPr>
          <p:nvPr>
            <p:ph type="body" idx="1"/>
          </p:nvPr>
        </p:nvSpPr>
        <p:spPr>
          <a:xfrm>
            <a:off x="1792288" y="5367338"/>
            <a:ext cx="5486400" cy="8048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marL="914400" lvl="1" indent="-2286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marL="1371600" lvl="2" indent="-228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marL="1828800" lvl="3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marL="2286000" lvl="4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marL="2743200" lvl="5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marL="3200400" lvl="6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marL="3657600" lvl="7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marL="4114800" lvl="8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>
            <a:endParaRPr/>
          </a:p>
        </p:txBody>
      </p:sp>
      <p:sp>
        <p:nvSpPr>
          <p:cNvPr id="65" name="Google Shape;65;p10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6" name="Google Shape;66;p10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7" name="Google Shape;67;p10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Vertical Text" type="vertTx">
  <p:cSld name="VERTICAL_TEXT">
    <p:spTree>
      <p:nvGrpSpPr>
        <p:cNvPr id="1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p11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0" name="Google Shape;70;p11"/>
          <p:cNvSpPr txBox="1">
            <a:spLocks noGrp="1"/>
          </p:cNvSpPr>
          <p:nvPr>
            <p:ph type="body" idx="1"/>
          </p:nvPr>
        </p:nvSpPr>
        <p:spPr>
          <a:xfrm rot="5400000">
            <a:off x="2309019" y="-251618"/>
            <a:ext cx="4525963" cy="822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1" name="Google Shape;71;p11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2" name="Google Shape;72;p11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3" name="Google Shape;73;p11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Vertical Title and Text" type="vertTitleAndTx">
  <p:cSld name="VERTICAL_TITLE_AND_VERTICAL_TEXT">
    <p:spTree>
      <p:nvGrpSpPr>
        <p:cNvPr id="1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2"/>
          <p:cNvSpPr txBox="1">
            <a:spLocks noGrp="1"/>
          </p:cNvSpPr>
          <p:nvPr>
            <p:ph type="title"/>
          </p:nvPr>
        </p:nvSpPr>
        <p:spPr>
          <a:xfrm rot="5400000">
            <a:off x="4732338" y="2171701"/>
            <a:ext cx="5851525" cy="2057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6" name="Google Shape;76;p12"/>
          <p:cNvSpPr txBox="1">
            <a:spLocks noGrp="1"/>
          </p:cNvSpPr>
          <p:nvPr>
            <p:ph type="body" idx="1"/>
          </p:nvPr>
        </p:nvSpPr>
        <p:spPr>
          <a:xfrm rot="5400000">
            <a:off x="541338" y="190500"/>
            <a:ext cx="5851525" cy="6019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7" name="Google Shape;77;p12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8" name="Google Shape;78;p12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9" name="Google Shape;79;p12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sz="4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marR="0" lvl="0" indent="-431800" algn="l" rtl="0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  <a:defRPr sz="3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406400" algn="l" rtl="0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  <a:defRPr sz="2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81000" algn="l" rtl="0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–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»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9" name="Google Shape;9;p1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0" name="Google Shape;10;p1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8.png"/><Relationship Id="rId3" Type="http://schemas.openxmlformats.org/officeDocument/2006/relationships/image" Target="../media/image1.png"/><Relationship Id="rId7" Type="http://schemas.openxmlformats.org/officeDocument/2006/relationships/image" Target="../media/image7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4" Type="http://schemas.openxmlformats.org/officeDocument/2006/relationships/image" Target="../media/image4.png"/><Relationship Id="rId9" Type="http://schemas.openxmlformats.org/officeDocument/2006/relationships/image" Target="../media/image9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0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2.png"/><Relationship Id="rId4" Type="http://schemas.openxmlformats.org/officeDocument/2006/relationships/image" Target="../media/image11.png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17.png"/><Relationship Id="rId3" Type="http://schemas.openxmlformats.org/officeDocument/2006/relationships/image" Target="../media/image1.png"/><Relationship Id="rId7" Type="http://schemas.openxmlformats.org/officeDocument/2006/relationships/image" Target="../media/image16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5.png"/><Relationship Id="rId5" Type="http://schemas.openxmlformats.org/officeDocument/2006/relationships/image" Target="../media/image14.png"/><Relationship Id="rId4" Type="http://schemas.openxmlformats.org/officeDocument/2006/relationships/image" Target="../media/image13.png"/><Relationship Id="rId9" Type="http://schemas.openxmlformats.org/officeDocument/2006/relationships/image" Target="../media/image18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9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21.png"/><Relationship Id="rId4" Type="http://schemas.openxmlformats.org/officeDocument/2006/relationships/image" Target="../media/image20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4.png"/><Relationship Id="rId5" Type="http://schemas.openxmlformats.org/officeDocument/2006/relationships/image" Target="../media/image23.png"/><Relationship Id="rId4" Type="http://schemas.openxmlformats.org/officeDocument/2006/relationships/image" Target="../media/image22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4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20617"/>
        </a:solidFill>
        <a:effectLst/>
      </p:bgPr>
    </p:bg>
    <p:spTree>
      <p:nvGrpSpPr>
        <p:cNvPr id="1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4" name="Google Shape;84;p13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85" name="Google Shape;85;p13"/>
          <p:cNvSpPr txBox="1"/>
          <p:nvPr/>
        </p:nvSpPr>
        <p:spPr>
          <a:xfrm>
            <a:off x="148086" y="1113651"/>
            <a:ext cx="11895826" cy="166199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lvl="0" algn="ctr"/>
            <a:r>
              <a:rPr lang="en-US" sz="5400" dirty="0">
                <a:solidFill>
                  <a:schemeClr val="bg1"/>
                </a:solidFill>
              </a:rPr>
              <a:t>Procurement Spend &amp; Performance Analysis</a:t>
            </a:r>
            <a:endParaRPr dirty="0">
              <a:solidFill>
                <a:schemeClr val="bg1"/>
              </a:solidFill>
            </a:endParaRPr>
          </a:p>
        </p:txBody>
      </p:sp>
      <p:sp>
        <p:nvSpPr>
          <p:cNvPr id="86" name="Google Shape;86;p13"/>
          <p:cNvSpPr/>
          <p:nvPr/>
        </p:nvSpPr>
        <p:spPr>
          <a:xfrm>
            <a:off x="5619750" y="3013769"/>
            <a:ext cx="952500" cy="38100"/>
          </a:xfrm>
          <a:prstGeom prst="rect">
            <a:avLst/>
          </a:prstGeom>
          <a:solidFill>
            <a:srgbClr val="D946EF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7" name="Google Shape;87;p13"/>
          <p:cNvSpPr txBox="1"/>
          <p:nvPr/>
        </p:nvSpPr>
        <p:spPr>
          <a:xfrm>
            <a:off x="3167062" y="3528119"/>
            <a:ext cx="5857875" cy="36567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5994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0" i="0" u="none" strike="noStrike" cap="none">
                <a:solidFill>
                  <a:srgbClr val="94A3B8"/>
                </a:solidFill>
                <a:latin typeface="Urbanist"/>
                <a:ea typeface="Urbanist"/>
                <a:cs typeface="Urbanist"/>
                <a:sym typeface="Urbanist"/>
              </a:rPr>
              <a:t>Transforming 5,200 Purchase Orders into Strategic Insights</a:t>
            </a:r>
            <a:endParaRPr/>
          </a:p>
        </p:txBody>
      </p:sp>
      <p:sp>
        <p:nvSpPr>
          <p:cNvPr id="88" name="Google Shape;88;p13"/>
          <p:cNvSpPr txBox="1"/>
          <p:nvPr/>
        </p:nvSpPr>
        <p:spPr>
          <a:xfrm>
            <a:off x="4314825" y="4503390"/>
            <a:ext cx="3562350" cy="2742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0" i="0" u="none" strike="noStrike" cap="none" dirty="0">
                <a:solidFill>
                  <a:srgbClr val="64748B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FY 2022 - 2024 Strategic Reporting</a:t>
            </a:r>
            <a:endParaRPr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20617"/>
        </a:solidFill>
        <a:effectLst/>
      </p:bgPr>
    </p:bg>
    <p:spTree>
      <p:nvGrpSpPr>
        <p:cNvPr id="1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3" name="Google Shape;93;p14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94" name="Google Shape;94;p14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581025" y="2717750"/>
            <a:ext cx="5324475" cy="2035405"/>
          </a:xfrm>
          <a:prstGeom prst="rect">
            <a:avLst/>
          </a:prstGeom>
          <a:noFill/>
          <a:ln>
            <a:noFill/>
          </a:ln>
        </p:spPr>
      </p:pic>
      <p:pic>
        <p:nvPicPr>
          <p:cNvPr id="95" name="Google Shape;95;p14" descr="image.pn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6286500" y="2717750"/>
            <a:ext cx="5324475" cy="2035405"/>
          </a:xfrm>
          <a:prstGeom prst="rect">
            <a:avLst/>
          </a:prstGeom>
          <a:noFill/>
          <a:ln>
            <a:noFill/>
          </a:ln>
        </p:spPr>
      </p:pic>
      <p:sp>
        <p:nvSpPr>
          <p:cNvPr id="96" name="Google Shape;96;p14"/>
          <p:cNvSpPr txBox="1"/>
          <p:nvPr/>
        </p:nvSpPr>
        <p:spPr>
          <a:xfrm>
            <a:off x="876300" y="2920505"/>
            <a:ext cx="4970621" cy="3238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100" b="0" i="0" u="none" strike="noStrike" cap="none" dirty="0">
                <a:solidFill>
                  <a:srgbClr val="67E8F9"/>
                </a:solidFill>
                <a:latin typeface="Urbanist SemiBold"/>
                <a:ea typeface="Urbanist SemiBold"/>
                <a:cs typeface="Urbanist SemiBold"/>
                <a:sym typeface="Urbanist SemiBold"/>
              </a:rPr>
              <a:t>The Core Challenge</a:t>
            </a:r>
            <a:endParaRPr dirty="0"/>
          </a:p>
        </p:txBody>
      </p:sp>
      <p:sp>
        <p:nvSpPr>
          <p:cNvPr id="97" name="Google Shape;97;p14"/>
          <p:cNvSpPr txBox="1"/>
          <p:nvPr/>
        </p:nvSpPr>
        <p:spPr>
          <a:xfrm>
            <a:off x="876300" y="3249637"/>
            <a:ext cx="4733925" cy="10971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0" i="0" u="none" strike="noStrike" cap="none" dirty="0">
                <a:solidFill>
                  <a:srgbClr val="CBD5E1"/>
                </a:solidFill>
                <a:latin typeface="Urbanist"/>
                <a:ea typeface="Urbanist"/>
                <a:cs typeface="Urbanist"/>
                <a:sym typeface="Urbanist"/>
              </a:rPr>
              <a:t>Modern procurement faces volatility: rising costs, supplier delivery risks, and compliance gaps. Our current P2P cycle shows friction in invoice matching and maverick spending which strains annual budgets.</a:t>
            </a:r>
            <a:endParaRPr dirty="0"/>
          </a:p>
        </p:txBody>
      </p:sp>
      <p:sp>
        <p:nvSpPr>
          <p:cNvPr id="98" name="Google Shape;98;p14"/>
          <p:cNvSpPr txBox="1"/>
          <p:nvPr/>
        </p:nvSpPr>
        <p:spPr>
          <a:xfrm>
            <a:off x="6581775" y="2921050"/>
            <a:ext cx="4970621" cy="3238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100" b="0" i="0" u="none" strike="noStrike" cap="none" dirty="0">
                <a:solidFill>
                  <a:srgbClr val="67E8F9"/>
                </a:solidFill>
                <a:latin typeface="Urbanist SemiBold"/>
                <a:ea typeface="Urbanist SemiBold"/>
                <a:cs typeface="Urbanist SemiBold"/>
                <a:sym typeface="Urbanist SemiBold"/>
              </a:rPr>
              <a:t>Analytical Objectives</a:t>
            </a:r>
            <a:endParaRPr dirty="0"/>
          </a:p>
        </p:txBody>
      </p:sp>
      <p:sp>
        <p:nvSpPr>
          <p:cNvPr id="99" name="Google Shape;99;p14"/>
          <p:cNvSpPr txBox="1"/>
          <p:nvPr/>
        </p:nvSpPr>
        <p:spPr>
          <a:xfrm>
            <a:off x="6581774" y="3255576"/>
            <a:ext cx="4733925" cy="82287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0" i="0" u="none" strike="noStrike" cap="none" dirty="0">
                <a:solidFill>
                  <a:srgbClr val="CBD5E1"/>
                </a:solidFill>
                <a:latin typeface="Urbanist"/>
                <a:ea typeface="Urbanist"/>
                <a:cs typeface="Urbanist"/>
                <a:sym typeface="Urbanist"/>
              </a:rPr>
              <a:t>Evaluate 3+ years of transaction data to gain visibility into spending patterns, monitor supplier performance KPIs, track contract effectiveness, and mitigate operational risks.</a:t>
            </a:r>
            <a:endParaRPr dirty="0"/>
          </a:p>
        </p:txBody>
      </p:sp>
      <p:sp>
        <p:nvSpPr>
          <p:cNvPr id="100" name="Google Shape;100;p14"/>
          <p:cNvSpPr txBox="1"/>
          <p:nvPr/>
        </p:nvSpPr>
        <p:spPr>
          <a:xfrm>
            <a:off x="771525" y="913060"/>
            <a:ext cx="11381422" cy="4857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150" b="1" i="0" u="none" strike="noStrike" cap="none">
                <a:solidFill>
                  <a:srgbClr val="F8FAFC"/>
                </a:solidFill>
                <a:latin typeface="Urbanist"/>
                <a:ea typeface="Urbanist"/>
                <a:cs typeface="Urbanist"/>
                <a:sym typeface="Urbanist"/>
              </a:rPr>
              <a:t>STRATEGIC PROJECT OVERVIEW</a:t>
            </a:r>
            <a:endParaRPr/>
          </a:p>
        </p:txBody>
      </p:sp>
      <p:sp>
        <p:nvSpPr>
          <p:cNvPr id="101" name="Google Shape;101;p14"/>
          <p:cNvSpPr/>
          <p:nvPr/>
        </p:nvSpPr>
        <p:spPr>
          <a:xfrm>
            <a:off x="581025" y="913060"/>
            <a:ext cx="57150" cy="485775"/>
          </a:xfrm>
          <a:prstGeom prst="rect">
            <a:avLst/>
          </a:prstGeom>
          <a:solidFill>
            <a:srgbClr val="D946EF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20617"/>
        </a:solidFill>
        <a:effectLst/>
      </p:bgPr>
    </p:bg>
    <p:spTree>
      <p:nvGrpSpPr>
        <p:cNvPr id="1" name="Shape 1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6" name="Google Shape;106;p15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07" name="Google Shape;107;p15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581025" y="2569219"/>
            <a:ext cx="3486150" cy="2918370"/>
          </a:xfrm>
          <a:prstGeom prst="rect">
            <a:avLst/>
          </a:prstGeom>
          <a:noFill/>
          <a:ln>
            <a:noFill/>
          </a:ln>
        </p:spPr>
      </p:pic>
      <p:pic>
        <p:nvPicPr>
          <p:cNvPr id="108" name="Google Shape;108;p15" descr="image.pn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4352925" y="2569219"/>
            <a:ext cx="3486150" cy="2918370"/>
          </a:xfrm>
          <a:prstGeom prst="rect">
            <a:avLst/>
          </a:prstGeom>
          <a:noFill/>
          <a:ln>
            <a:noFill/>
          </a:ln>
        </p:spPr>
      </p:pic>
      <p:pic>
        <p:nvPicPr>
          <p:cNvPr id="109" name="Google Shape;109;p15" descr="image.png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8124825" y="2569219"/>
            <a:ext cx="3486150" cy="2918370"/>
          </a:xfrm>
          <a:prstGeom prst="rect">
            <a:avLst/>
          </a:prstGeom>
          <a:noFill/>
          <a:ln>
            <a:noFill/>
          </a:ln>
        </p:spPr>
      </p:pic>
      <p:sp>
        <p:nvSpPr>
          <p:cNvPr id="110" name="Google Shape;110;p15"/>
          <p:cNvSpPr txBox="1"/>
          <p:nvPr/>
        </p:nvSpPr>
        <p:spPr>
          <a:xfrm>
            <a:off x="866775" y="3674119"/>
            <a:ext cx="3060382" cy="3238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100" b="0" i="0" u="none" strike="noStrike" cap="none">
                <a:solidFill>
                  <a:srgbClr val="67E8F9"/>
                </a:solidFill>
                <a:latin typeface="Urbanist SemiBold"/>
                <a:ea typeface="Urbanist SemiBold"/>
                <a:cs typeface="Urbanist SemiBold"/>
                <a:sym typeface="Urbanist SemiBold"/>
              </a:rPr>
              <a:t>5,200 Orders</a:t>
            </a:r>
            <a:endParaRPr/>
          </a:p>
        </p:txBody>
      </p:sp>
      <p:sp>
        <p:nvSpPr>
          <p:cNvPr id="111" name="Google Shape;111;p15"/>
          <p:cNvSpPr txBox="1"/>
          <p:nvPr/>
        </p:nvSpPr>
        <p:spPr>
          <a:xfrm>
            <a:off x="866775" y="4035335"/>
            <a:ext cx="2914650" cy="66479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0" i="0" u="none" strike="noStrike" cap="none" dirty="0">
                <a:solidFill>
                  <a:srgbClr val="CBD5E1"/>
                </a:solidFill>
                <a:latin typeface="Urbanist"/>
                <a:ea typeface="Urbanist"/>
                <a:cs typeface="Urbanist"/>
                <a:sym typeface="Urbanist"/>
              </a:rPr>
              <a:t>Complete historical transaction records from 2022 through 2024.</a:t>
            </a:r>
            <a:endParaRPr dirty="0"/>
          </a:p>
        </p:txBody>
      </p:sp>
      <p:sp>
        <p:nvSpPr>
          <p:cNvPr id="112" name="Google Shape;112;p15"/>
          <p:cNvSpPr txBox="1"/>
          <p:nvPr/>
        </p:nvSpPr>
        <p:spPr>
          <a:xfrm>
            <a:off x="4638675" y="3674119"/>
            <a:ext cx="3060382" cy="3238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100" b="0" i="0" u="none" strike="noStrike" cap="none">
                <a:solidFill>
                  <a:srgbClr val="67E8F9"/>
                </a:solidFill>
                <a:latin typeface="Urbanist SemiBold"/>
                <a:ea typeface="Urbanist SemiBold"/>
                <a:cs typeface="Urbanist SemiBold"/>
                <a:sym typeface="Urbanist SemiBold"/>
              </a:rPr>
              <a:t>57 Data Fields</a:t>
            </a:r>
            <a:endParaRPr/>
          </a:p>
        </p:txBody>
      </p:sp>
      <p:sp>
        <p:nvSpPr>
          <p:cNvPr id="113" name="Google Shape;113;p15"/>
          <p:cNvSpPr txBox="1"/>
          <p:nvPr/>
        </p:nvSpPr>
        <p:spPr>
          <a:xfrm>
            <a:off x="4648200" y="4035335"/>
            <a:ext cx="2914650" cy="5485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0" i="0" u="none" strike="noStrike" cap="none" dirty="0">
                <a:solidFill>
                  <a:srgbClr val="CBD5E1"/>
                </a:solidFill>
                <a:latin typeface="Urbanist"/>
                <a:ea typeface="Urbanist"/>
                <a:cs typeface="Urbanist"/>
                <a:sym typeface="Urbanist"/>
              </a:rPr>
              <a:t>Rich metadata including Supplier Tiers, ESG scores, and Contract IDs.</a:t>
            </a:r>
            <a:endParaRPr dirty="0"/>
          </a:p>
        </p:txBody>
      </p:sp>
      <p:sp>
        <p:nvSpPr>
          <p:cNvPr id="114" name="Google Shape;114;p15"/>
          <p:cNvSpPr txBox="1"/>
          <p:nvPr/>
        </p:nvSpPr>
        <p:spPr>
          <a:xfrm>
            <a:off x="8410575" y="3642642"/>
            <a:ext cx="3060382" cy="3238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100" b="0" i="0" u="none" strike="noStrike" cap="none" dirty="0">
                <a:solidFill>
                  <a:srgbClr val="67E8F9"/>
                </a:solidFill>
                <a:latin typeface="Urbanist SemiBold"/>
                <a:ea typeface="Urbanist SemiBold"/>
                <a:cs typeface="Urbanist SemiBold"/>
                <a:sym typeface="Urbanist SemiBold"/>
              </a:rPr>
              <a:t>$908.8M Spend</a:t>
            </a:r>
            <a:endParaRPr dirty="0"/>
          </a:p>
        </p:txBody>
      </p:sp>
      <p:sp>
        <p:nvSpPr>
          <p:cNvPr id="115" name="Google Shape;115;p15"/>
          <p:cNvSpPr txBox="1"/>
          <p:nvPr/>
        </p:nvSpPr>
        <p:spPr>
          <a:xfrm>
            <a:off x="8410575" y="4032274"/>
            <a:ext cx="2914650" cy="82287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0" i="0" u="none" strike="noStrike" cap="none" dirty="0">
                <a:solidFill>
                  <a:srgbClr val="CBD5E1"/>
                </a:solidFill>
                <a:latin typeface="Urbanist"/>
                <a:ea typeface="Urbanist"/>
                <a:cs typeface="Urbanist"/>
                <a:sym typeface="Urbanist"/>
              </a:rPr>
              <a:t>Managed expenditure analyzed for savings and cost avoidance opportunities.</a:t>
            </a:r>
            <a:endParaRPr dirty="0"/>
          </a:p>
        </p:txBody>
      </p:sp>
      <p:pic>
        <p:nvPicPr>
          <p:cNvPr id="116" name="Google Shape;116;p15" descr="image.png"/>
          <p:cNvPicPr preferRelativeResize="0"/>
          <p:nvPr/>
        </p:nvPicPr>
        <p:blipFill rotWithShape="1">
          <a:blip r:embed="rId7">
            <a:alphaModFix/>
          </a:blip>
          <a:srcRect/>
          <a:stretch/>
        </p:blipFill>
        <p:spPr>
          <a:xfrm>
            <a:off x="866775" y="2893069"/>
            <a:ext cx="400050" cy="4572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17" name="Google Shape;117;p15" descr="image.png"/>
          <p:cNvPicPr preferRelativeResize="0"/>
          <p:nvPr/>
        </p:nvPicPr>
        <p:blipFill rotWithShape="1">
          <a:blip r:embed="rId8">
            <a:alphaModFix/>
          </a:blip>
          <a:srcRect/>
          <a:stretch/>
        </p:blipFill>
        <p:spPr>
          <a:xfrm>
            <a:off x="4638675" y="2893069"/>
            <a:ext cx="457200" cy="4572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18" name="Google Shape;118;p15" descr="image.png"/>
          <p:cNvPicPr preferRelativeResize="0"/>
          <p:nvPr/>
        </p:nvPicPr>
        <p:blipFill rotWithShape="1">
          <a:blip r:embed="rId9">
            <a:alphaModFix/>
          </a:blip>
          <a:srcRect/>
          <a:stretch/>
        </p:blipFill>
        <p:spPr>
          <a:xfrm>
            <a:off x="8410575" y="2893069"/>
            <a:ext cx="457200" cy="457200"/>
          </a:xfrm>
          <a:prstGeom prst="rect">
            <a:avLst/>
          </a:prstGeom>
          <a:noFill/>
          <a:ln>
            <a:noFill/>
          </a:ln>
        </p:spPr>
      </p:pic>
      <p:sp>
        <p:nvSpPr>
          <p:cNvPr id="119" name="Google Shape;119;p15"/>
          <p:cNvSpPr txBox="1"/>
          <p:nvPr/>
        </p:nvSpPr>
        <p:spPr>
          <a:xfrm>
            <a:off x="771525" y="913060"/>
            <a:ext cx="11381422" cy="4857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150" b="1" i="0" u="none" strike="noStrike" cap="none">
                <a:solidFill>
                  <a:srgbClr val="F8FAFC"/>
                </a:solidFill>
                <a:latin typeface="Urbanist"/>
                <a:ea typeface="Urbanist"/>
                <a:cs typeface="Urbanist"/>
                <a:sym typeface="Urbanist"/>
              </a:rPr>
              <a:t>THE ANALYTICAL FOUNDATION</a:t>
            </a:r>
            <a:endParaRPr/>
          </a:p>
        </p:txBody>
      </p:sp>
      <p:sp>
        <p:nvSpPr>
          <p:cNvPr id="120" name="Google Shape;120;p15"/>
          <p:cNvSpPr/>
          <p:nvPr/>
        </p:nvSpPr>
        <p:spPr>
          <a:xfrm>
            <a:off x="581025" y="913060"/>
            <a:ext cx="57150" cy="485775"/>
          </a:xfrm>
          <a:prstGeom prst="rect">
            <a:avLst/>
          </a:prstGeom>
          <a:solidFill>
            <a:srgbClr val="D946EF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20617"/>
        </a:solidFill>
        <a:effectLst/>
      </p:bgPr>
    </p:bg>
    <p:spTree>
      <p:nvGrpSpPr>
        <p:cNvPr id="1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5" name="Google Shape;125;p16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6"/>
          <p:cNvSpPr txBox="1"/>
          <p:nvPr/>
        </p:nvSpPr>
        <p:spPr>
          <a:xfrm>
            <a:off x="771525" y="913060"/>
            <a:ext cx="11381422" cy="4857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150" b="1" i="0" u="none" strike="noStrike" cap="none">
                <a:solidFill>
                  <a:srgbClr val="F8FAFC"/>
                </a:solidFill>
                <a:latin typeface="Urbanist"/>
                <a:ea typeface="Urbanist"/>
                <a:cs typeface="Urbanist"/>
                <a:sym typeface="Urbanist"/>
              </a:rPr>
              <a:t>HISTORICAL SPEND TRENDS</a:t>
            </a:r>
            <a:endParaRPr/>
          </a:p>
        </p:txBody>
      </p:sp>
      <p:sp>
        <p:nvSpPr>
          <p:cNvPr id="129" name="Google Shape;129;p16"/>
          <p:cNvSpPr/>
          <p:nvPr/>
        </p:nvSpPr>
        <p:spPr>
          <a:xfrm>
            <a:off x="581025" y="913060"/>
            <a:ext cx="57150" cy="485775"/>
          </a:xfrm>
          <a:prstGeom prst="rect">
            <a:avLst/>
          </a:prstGeom>
          <a:solidFill>
            <a:srgbClr val="D946EF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2" name="Picture 1" descr="image.png">
            <a:extLst>
              <a:ext uri="{FF2B5EF4-FFF2-40B4-BE49-F238E27FC236}">
                <a16:creationId xmlns:a16="http://schemas.microsoft.com/office/drawing/2014/main" id="{647B9017-BC3F-2E14-D7C4-81D35FB4694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25077" y="1933561"/>
            <a:ext cx="9141845" cy="4011379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20617"/>
        </a:solidFill>
        <a:effectLst/>
      </p:bgPr>
    </p:bg>
    <p:spTree>
      <p:nvGrpSpPr>
        <p:cNvPr id="1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4" name="Google Shape;134;p17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135" name="Google Shape;135;p17"/>
          <p:cNvGraphicFramePr/>
          <p:nvPr>
            <p:extLst>
              <p:ext uri="{D42A27DB-BD31-4B8C-83A1-F6EECF244321}">
                <p14:modId xmlns:p14="http://schemas.microsoft.com/office/powerpoint/2010/main" val="1091400707"/>
              </p:ext>
            </p:extLst>
          </p:nvPr>
        </p:nvGraphicFramePr>
        <p:xfrm>
          <a:off x="581024" y="2209056"/>
          <a:ext cx="11029950" cy="3276600"/>
        </p:xfrm>
        <a:graphic>
          <a:graphicData uri="http://schemas.openxmlformats.org/drawingml/2006/table">
            <a:tbl>
              <a:tblPr firstRow="1" bandRow="1">
                <a:noFill/>
                <a:tableStyleId>{C3D0135F-C7AB-493F-8C5F-AF4BD23ACE1A}</a:tableStyleId>
              </a:tblPr>
              <a:tblGrid>
                <a:gridCol w="24407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1051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1967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07467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21262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54610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50" b="1" i="0" u="none" strike="noStrike" cap="none" dirty="0">
                          <a:solidFill>
                            <a:srgbClr val="67E8F9"/>
                          </a:solidFill>
                          <a:latin typeface="Urbanist"/>
                          <a:ea typeface="Urbanist"/>
                          <a:cs typeface="Urbanist"/>
                          <a:sym typeface="Urbanist"/>
                        </a:rPr>
                        <a:t>Category</a:t>
                      </a:r>
                      <a:endParaRPr dirty="0"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50" b="1" i="0" u="none" strike="noStrike" cap="none">
                          <a:solidFill>
                            <a:srgbClr val="67E8F9"/>
                          </a:solidFill>
                          <a:latin typeface="Urbanist"/>
                          <a:ea typeface="Urbanist"/>
                          <a:cs typeface="Urbanist"/>
                          <a:sym typeface="Urbanist"/>
                        </a:rPr>
                        <a:t>Total Spend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50" b="1" i="0" u="none" strike="noStrike" cap="none">
                          <a:solidFill>
                            <a:srgbClr val="67E8F9"/>
                          </a:solidFill>
                          <a:latin typeface="Urbanist"/>
                          <a:ea typeface="Urbanist"/>
                          <a:cs typeface="Urbanist"/>
                          <a:sym typeface="Urbanist"/>
                        </a:rPr>
                        <a:t>Total Budget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50" b="1" i="0" u="none" strike="noStrike" cap="none">
                          <a:solidFill>
                            <a:srgbClr val="67E8F9"/>
                          </a:solidFill>
                          <a:latin typeface="Urbanist"/>
                          <a:ea typeface="Urbanist"/>
                          <a:cs typeface="Urbanist"/>
                          <a:sym typeface="Urbanist"/>
                        </a:rPr>
                        <a:t>Difference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50" b="1" i="0" u="none" strike="noStrike" cap="none">
                          <a:solidFill>
                            <a:srgbClr val="67E8F9"/>
                          </a:solidFill>
                          <a:latin typeface="Urbanist"/>
                          <a:ea typeface="Urbanist"/>
                          <a:cs typeface="Urbanist"/>
                          <a:sym typeface="Urbanist"/>
                        </a:rPr>
                        <a:t>Variance (%)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1E293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4610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 i="0" u="none" strike="noStrike" cap="none" dirty="0">
                          <a:solidFill>
                            <a:schemeClr val="tx1"/>
                          </a:solidFill>
                          <a:latin typeface="Urbanist"/>
                          <a:ea typeface="Urbanist"/>
                          <a:cs typeface="Urbanist"/>
                          <a:sym typeface="Urbanist"/>
                        </a:rPr>
                        <a:t>IT Software</a:t>
                      </a:r>
                      <a:endParaRPr dirty="0">
                        <a:solidFill>
                          <a:schemeClr val="tx1"/>
                        </a:solidFill>
                      </a:endParaRPr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 i="0" u="none" strike="noStrike" cap="none" dirty="0">
                          <a:solidFill>
                            <a:schemeClr val="tx1"/>
                          </a:solidFill>
                          <a:latin typeface="Urbanist"/>
                          <a:ea typeface="Urbanist"/>
                          <a:cs typeface="Urbanist"/>
                          <a:sym typeface="Urbanist"/>
                        </a:rPr>
                        <a:t>$299,551,458</a:t>
                      </a:r>
                      <a:endParaRPr dirty="0">
                        <a:solidFill>
                          <a:schemeClr val="tx1"/>
                        </a:solidFill>
                      </a:endParaRPr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 i="0" u="none" strike="noStrike" cap="none" dirty="0">
                          <a:solidFill>
                            <a:schemeClr val="tx1"/>
                          </a:solidFill>
                          <a:latin typeface="Urbanist"/>
                          <a:ea typeface="Urbanist"/>
                          <a:cs typeface="Urbanist"/>
                          <a:sym typeface="Urbanist"/>
                        </a:rPr>
                        <a:t>$335,363,187</a:t>
                      </a:r>
                      <a:endParaRPr dirty="0">
                        <a:solidFill>
                          <a:schemeClr val="tx1"/>
                        </a:solidFill>
                      </a:endParaRPr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 i="0" u="none" strike="noStrike" cap="none" dirty="0">
                          <a:solidFill>
                            <a:schemeClr val="tx1"/>
                          </a:solidFill>
                          <a:latin typeface="Urbanist"/>
                          <a:ea typeface="Urbanist"/>
                          <a:cs typeface="Urbanist"/>
                          <a:sym typeface="Urbanist"/>
                        </a:rPr>
                        <a:t>-$35,811,729</a:t>
                      </a:r>
                      <a:endParaRPr dirty="0">
                        <a:solidFill>
                          <a:schemeClr val="tx1"/>
                        </a:solidFill>
                      </a:endParaRPr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1" i="0" u="none" strike="noStrike" cap="none" dirty="0">
                          <a:solidFill>
                            <a:srgbClr val="4ADE80"/>
                          </a:solidFill>
                          <a:latin typeface="Urbanist"/>
                          <a:ea typeface="Urbanist"/>
                          <a:cs typeface="Urbanist"/>
                          <a:sym typeface="Urbanist"/>
                        </a:rPr>
                        <a:t>-10.68%</a:t>
                      </a:r>
                      <a:endParaRPr b="1" dirty="0"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4610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 i="0" u="none" strike="noStrike" cap="none">
                          <a:solidFill>
                            <a:srgbClr val="CBD5E1"/>
                          </a:solidFill>
                          <a:latin typeface="Urbanist"/>
                          <a:ea typeface="Urbanist"/>
                          <a:cs typeface="Urbanist"/>
                          <a:sym typeface="Urbanist"/>
                        </a:rPr>
                        <a:t>Professional Svcs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 i="0" u="none" strike="noStrike" cap="none" dirty="0">
                          <a:solidFill>
                            <a:srgbClr val="CBD5E1"/>
                          </a:solidFill>
                          <a:latin typeface="Urbanist"/>
                          <a:ea typeface="Urbanist"/>
                          <a:cs typeface="Urbanist"/>
                          <a:sym typeface="Urbanist"/>
                        </a:rPr>
                        <a:t>$163,883,292</a:t>
                      </a:r>
                      <a:endParaRPr dirty="0"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 i="0" u="none" strike="noStrike" cap="none" dirty="0">
                          <a:solidFill>
                            <a:srgbClr val="CBD5E1"/>
                          </a:solidFill>
                          <a:latin typeface="Urbanist"/>
                          <a:ea typeface="Urbanist"/>
                          <a:cs typeface="Urbanist"/>
                          <a:sym typeface="Urbanist"/>
                        </a:rPr>
                        <a:t>$184,514,931</a:t>
                      </a:r>
                      <a:endParaRPr dirty="0"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 i="0" u="none" strike="noStrike" cap="none" dirty="0">
                          <a:solidFill>
                            <a:srgbClr val="CBD5E1"/>
                          </a:solidFill>
                          <a:latin typeface="Urbanist"/>
                          <a:ea typeface="Urbanist"/>
                          <a:cs typeface="Urbanist"/>
                          <a:sym typeface="Urbanist"/>
                        </a:rPr>
                        <a:t>-$20,631,639</a:t>
                      </a:r>
                      <a:endParaRPr dirty="0"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1" i="0" u="none" strike="noStrike" cap="none" dirty="0">
                          <a:solidFill>
                            <a:srgbClr val="4ADE80"/>
                          </a:solidFill>
                          <a:latin typeface="Urbanist"/>
                          <a:ea typeface="Urbanist"/>
                          <a:cs typeface="Urbanist"/>
                          <a:sym typeface="Urbanist"/>
                        </a:rPr>
                        <a:t>-11.18%</a:t>
                      </a:r>
                      <a:endParaRPr b="1" dirty="0"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1E293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4610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 i="0" u="none" strike="noStrike" cap="none" dirty="0">
                          <a:solidFill>
                            <a:schemeClr val="tx1"/>
                          </a:solidFill>
                          <a:latin typeface="Urbanist"/>
                          <a:ea typeface="Urbanist"/>
                          <a:cs typeface="Urbanist"/>
                          <a:sym typeface="Urbanist"/>
                        </a:rPr>
                        <a:t>Marketing</a:t>
                      </a:r>
                      <a:endParaRPr dirty="0">
                        <a:solidFill>
                          <a:schemeClr val="tx1"/>
                        </a:solidFill>
                      </a:endParaRPr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 i="0" u="none" strike="noStrike" cap="none" dirty="0">
                          <a:solidFill>
                            <a:schemeClr val="tx1"/>
                          </a:solidFill>
                          <a:latin typeface="Urbanist"/>
                          <a:ea typeface="Urbanist"/>
                          <a:cs typeface="Urbanist"/>
                          <a:sym typeface="Urbanist"/>
                        </a:rPr>
                        <a:t>$137,517,425</a:t>
                      </a:r>
                      <a:endParaRPr dirty="0">
                        <a:solidFill>
                          <a:schemeClr val="tx1"/>
                        </a:solidFill>
                      </a:endParaRPr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 i="0" u="none" strike="noStrike" cap="none" dirty="0">
                          <a:solidFill>
                            <a:schemeClr val="tx1"/>
                          </a:solidFill>
                          <a:latin typeface="Urbanist"/>
                          <a:ea typeface="Urbanist"/>
                          <a:cs typeface="Urbanist"/>
                          <a:sym typeface="Urbanist"/>
                        </a:rPr>
                        <a:t>$151,630,295</a:t>
                      </a:r>
                      <a:endParaRPr dirty="0">
                        <a:solidFill>
                          <a:schemeClr val="tx1"/>
                        </a:solidFill>
                      </a:endParaRPr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 i="0" u="none" strike="noStrike" cap="none" dirty="0">
                          <a:solidFill>
                            <a:schemeClr val="tx1"/>
                          </a:solidFill>
                          <a:latin typeface="Urbanist"/>
                          <a:ea typeface="Urbanist"/>
                          <a:cs typeface="Urbanist"/>
                          <a:sym typeface="Urbanist"/>
                        </a:rPr>
                        <a:t>-$14,112,870</a:t>
                      </a:r>
                      <a:endParaRPr dirty="0">
                        <a:solidFill>
                          <a:schemeClr val="tx1"/>
                        </a:solidFill>
                      </a:endParaRPr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1" i="0" u="none" strike="noStrike" cap="none" dirty="0">
                          <a:solidFill>
                            <a:srgbClr val="4ADE80"/>
                          </a:solidFill>
                          <a:latin typeface="Urbanist"/>
                          <a:ea typeface="Urbanist"/>
                          <a:cs typeface="Urbanist"/>
                          <a:sym typeface="Urbanist"/>
                        </a:rPr>
                        <a:t>-9.31%</a:t>
                      </a:r>
                      <a:endParaRPr b="1" dirty="0"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4610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 i="0" u="none" strike="noStrike" cap="none">
                          <a:solidFill>
                            <a:srgbClr val="CBD5E1"/>
                          </a:solidFill>
                          <a:latin typeface="Urbanist"/>
                          <a:ea typeface="Urbanist"/>
                          <a:cs typeface="Urbanist"/>
                          <a:sym typeface="Urbanist"/>
                        </a:rPr>
                        <a:t>IT Hardware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 i="0" u="none" strike="noStrike" cap="none" dirty="0">
                          <a:solidFill>
                            <a:srgbClr val="CBD5E1"/>
                          </a:solidFill>
                          <a:latin typeface="Urbanist"/>
                          <a:ea typeface="Urbanist"/>
                          <a:cs typeface="Urbanist"/>
                          <a:sym typeface="Urbanist"/>
                        </a:rPr>
                        <a:t>$117,048,532</a:t>
                      </a:r>
                      <a:endParaRPr dirty="0"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 i="0" u="none" strike="noStrike" cap="none" dirty="0">
                          <a:solidFill>
                            <a:srgbClr val="CBD5E1"/>
                          </a:solidFill>
                          <a:latin typeface="Urbanist"/>
                          <a:ea typeface="Urbanist"/>
                          <a:cs typeface="Urbanist"/>
                          <a:sym typeface="Urbanist"/>
                        </a:rPr>
                        <a:t>$129,736,172</a:t>
                      </a:r>
                      <a:endParaRPr dirty="0"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 i="0" u="none" strike="noStrike" cap="none" dirty="0">
                          <a:solidFill>
                            <a:srgbClr val="CBD5E1"/>
                          </a:solidFill>
                          <a:latin typeface="Urbanist"/>
                          <a:ea typeface="Urbanist"/>
                          <a:cs typeface="Urbanist"/>
                          <a:sym typeface="Urbanist"/>
                        </a:rPr>
                        <a:t>-$12,687,640</a:t>
                      </a:r>
                      <a:endParaRPr dirty="0"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1" i="0" u="none" strike="noStrike" cap="none" dirty="0">
                          <a:solidFill>
                            <a:srgbClr val="4ADE80"/>
                          </a:solidFill>
                          <a:latin typeface="Urbanist"/>
                          <a:ea typeface="Urbanist"/>
                          <a:cs typeface="Urbanist"/>
                          <a:sym typeface="Urbanist"/>
                        </a:rPr>
                        <a:t>-9.78%</a:t>
                      </a:r>
                      <a:endParaRPr b="1" dirty="0"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1E293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4610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 i="0" u="none" strike="noStrike" cap="none" dirty="0">
                          <a:solidFill>
                            <a:schemeClr val="tx1"/>
                          </a:solidFill>
                          <a:latin typeface="Urbanist"/>
                          <a:ea typeface="Urbanist"/>
                          <a:cs typeface="Urbanist"/>
                          <a:sym typeface="Urbanist"/>
                        </a:rPr>
                        <a:t>HR &amp; Training</a:t>
                      </a:r>
                      <a:endParaRPr dirty="0">
                        <a:solidFill>
                          <a:schemeClr val="tx1"/>
                        </a:solidFill>
                      </a:endParaRPr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 i="0" u="none" strike="noStrike" cap="none" dirty="0">
                          <a:solidFill>
                            <a:schemeClr val="tx1"/>
                          </a:solidFill>
                          <a:latin typeface="Urbanist"/>
                          <a:ea typeface="Urbanist"/>
                          <a:cs typeface="Urbanist"/>
                          <a:sym typeface="Urbanist"/>
                        </a:rPr>
                        <a:t>$90,254,182</a:t>
                      </a:r>
                      <a:endParaRPr dirty="0">
                        <a:solidFill>
                          <a:schemeClr val="tx1"/>
                        </a:solidFill>
                      </a:endParaRPr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 i="0" u="none" strike="noStrike" cap="none" dirty="0">
                          <a:solidFill>
                            <a:schemeClr val="tx1"/>
                          </a:solidFill>
                          <a:latin typeface="Urbanist"/>
                          <a:ea typeface="Urbanist"/>
                          <a:cs typeface="Urbanist"/>
                          <a:sym typeface="Urbanist"/>
                        </a:rPr>
                        <a:t>$99,336,152</a:t>
                      </a:r>
                      <a:endParaRPr dirty="0">
                        <a:solidFill>
                          <a:schemeClr val="tx1"/>
                        </a:solidFill>
                      </a:endParaRPr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 i="0" u="none" strike="noStrike" cap="none" dirty="0">
                          <a:solidFill>
                            <a:schemeClr val="tx1"/>
                          </a:solidFill>
                          <a:latin typeface="Urbanist"/>
                          <a:ea typeface="Urbanist"/>
                          <a:cs typeface="Urbanist"/>
                          <a:sym typeface="Urbanist"/>
                        </a:rPr>
                        <a:t>-$9,081,970</a:t>
                      </a:r>
                      <a:endParaRPr dirty="0">
                        <a:solidFill>
                          <a:schemeClr val="tx1"/>
                        </a:solidFill>
                      </a:endParaRPr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1" i="0" u="none" strike="noStrike" cap="none" dirty="0">
                          <a:solidFill>
                            <a:srgbClr val="4ADE80"/>
                          </a:solidFill>
                          <a:latin typeface="Urbanist"/>
                          <a:ea typeface="Urbanist"/>
                          <a:cs typeface="Urbanist"/>
                          <a:sym typeface="Urbanist"/>
                        </a:rPr>
                        <a:t>-9.14%</a:t>
                      </a:r>
                      <a:endParaRPr b="1" dirty="0"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166" name="Google Shape;166;p17"/>
          <p:cNvSpPr txBox="1"/>
          <p:nvPr/>
        </p:nvSpPr>
        <p:spPr>
          <a:xfrm>
            <a:off x="771525" y="913060"/>
            <a:ext cx="11381422" cy="4857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150" b="1" i="0" u="none" strike="noStrike" cap="none">
                <a:solidFill>
                  <a:srgbClr val="F8FAFC"/>
                </a:solidFill>
                <a:latin typeface="Urbanist"/>
                <a:ea typeface="Urbanist"/>
                <a:cs typeface="Urbanist"/>
                <a:sym typeface="Urbanist"/>
              </a:rPr>
              <a:t>EXPENDITURE &amp; BUDGET DEVIATION</a:t>
            </a:r>
            <a:endParaRPr/>
          </a:p>
        </p:txBody>
      </p:sp>
      <p:sp>
        <p:nvSpPr>
          <p:cNvPr id="167" name="Google Shape;167;p17"/>
          <p:cNvSpPr/>
          <p:nvPr/>
        </p:nvSpPr>
        <p:spPr>
          <a:xfrm>
            <a:off x="581025" y="913060"/>
            <a:ext cx="57150" cy="485775"/>
          </a:xfrm>
          <a:prstGeom prst="rect">
            <a:avLst/>
          </a:prstGeom>
          <a:solidFill>
            <a:srgbClr val="D946EF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20617"/>
        </a:solidFill>
        <a:effectLst/>
      </p:bgPr>
    </p:bg>
    <p:spTree>
      <p:nvGrpSpPr>
        <p:cNvPr id="1" name="Shape 1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2" name="Google Shape;172;p18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73" name="Google Shape;173;p18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2814637" y="1948160"/>
            <a:ext cx="3333750" cy="3333750"/>
          </a:xfrm>
          <a:prstGeom prst="rect">
            <a:avLst/>
          </a:prstGeom>
          <a:noFill/>
          <a:ln>
            <a:noFill/>
          </a:ln>
        </p:spPr>
      </p:pic>
      <p:pic>
        <p:nvPicPr>
          <p:cNvPr id="174" name="Google Shape;174;p18" descr="image.pn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3314700" y="2448222"/>
            <a:ext cx="2333625" cy="2333625"/>
          </a:xfrm>
          <a:prstGeom prst="rect">
            <a:avLst/>
          </a:prstGeom>
          <a:noFill/>
          <a:ln>
            <a:noFill/>
          </a:ln>
        </p:spPr>
      </p:pic>
      <p:sp>
        <p:nvSpPr>
          <p:cNvPr id="175" name="Google Shape;175;p18"/>
          <p:cNvSpPr txBox="1"/>
          <p:nvPr/>
        </p:nvSpPr>
        <p:spPr>
          <a:xfrm>
            <a:off x="581025" y="5662910"/>
            <a:ext cx="11029950" cy="2742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0" i="1" u="none" strike="noStrike" cap="none" dirty="0">
                <a:solidFill>
                  <a:srgbClr val="94A3B8"/>
                </a:solidFill>
                <a:latin typeface="Urbanist"/>
                <a:ea typeface="Urbanist"/>
                <a:cs typeface="Urbanist"/>
                <a:sym typeface="Urbanist"/>
              </a:rPr>
              <a:t>Insight: Over-reliance on Spot contracts suggests potential for deeper strategic negotiation in Long-term agreements.</a:t>
            </a:r>
            <a:endParaRPr dirty="0"/>
          </a:p>
        </p:txBody>
      </p:sp>
      <p:sp>
        <p:nvSpPr>
          <p:cNvPr id="176" name="Google Shape;176;p18"/>
          <p:cNvSpPr txBox="1"/>
          <p:nvPr/>
        </p:nvSpPr>
        <p:spPr>
          <a:xfrm>
            <a:off x="7100887" y="2776835"/>
            <a:ext cx="2276475" cy="2476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CBD5E1"/>
                </a:solidFill>
                <a:latin typeface="Urbanist"/>
                <a:ea typeface="Urbanist"/>
                <a:cs typeface="Urbanist"/>
                <a:sym typeface="Urbanist"/>
              </a:rPr>
              <a:t>Spot Contracts (51.36%)</a:t>
            </a:r>
            <a:endParaRPr/>
          </a:p>
        </p:txBody>
      </p:sp>
      <p:sp>
        <p:nvSpPr>
          <p:cNvPr id="177" name="Google Shape;177;p18"/>
          <p:cNvSpPr txBox="1"/>
          <p:nvPr/>
        </p:nvSpPr>
        <p:spPr>
          <a:xfrm>
            <a:off x="7100887" y="3224510"/>
            <a:ext cx="2276475" cy="2476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CBD5E1"/>
                </a:solidFill>
                <a:latin typeface="Urbanist"/>
                <a:ea typeface="Urbanist"/>
                <a:cs typeface="Urbanist"/>
                <a:sym typeface="Urbanist"/>
              </a:rPr>
              <a:t>Long-term (19.83%)</a:t>
            </a:r>
            <a:endParaRPr/>
          </a:p>
        </p:txBody>
      </p:sp>
      <p:sp>
        <p:nvSpPr>
          <p:cNvPr id="178" name="Google Shape;178;p18"/>
          <p:cNvSpPr txBox="1"/>
          <p:nvPr/>
        </p:nvSpPr>
        <p:spPr>
          <a:xfrm>
            <a:off x="7100887" y="3672185"/>
            <a:ext cx="2276475" cy="2476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CBD5E1"/>
                </a:solidFill>
                <a:latin typeface="Urbanist"/>
                <a:ea typeface="Urbanist"/>
                <a:cs typeface="Urbanist"/>
                <a:sym typeface="Urbanist"/>
              </a:rPr>
              <a:t>Framework (15.98%)</a:t>
            </a:r>
            <a:endParaRPr/>
          </a:p>
        </p:txBody>
      </p:sp>
      <p:sp>
        <p:nvSpPr>
          <p:cNvPr id="179" name="Google Shape;179;p18"/>
          <p:cNvSpPr txBox="1"/>
          <p:nvPr/>
        </p:nvSpPr>
        <p:spPr>
          <a:xfrm>
            <a:off x="7100887" y="4119860"/>
            <a:ext cx="2276475" cy="2476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CBD5E1"/>
                </a:solidFill>
                <a:latin typeface="Urbanist"/>
                <a:ea typeface="Urbanist"/>
                <a:cs typeface="Urbanist"/>
                <a:sym typeface="Urbanist"/>
              </a:rPr>
              <a:t>Master Supply (12.83%)</a:t>
            </a:r>
            <a:endParaRPr/>
          </a:p>
        </p:txBody>
      </p:sp>
      <p:sp>
        <p:nvSpPr>
          <p:cNvPr id="180" name="Google Shape;180;p18"/>
          <p:cNvSpPr/>
          <p:nvPr/>
        </p:nvSpPr>
        <p:spPr>
          <a:xfrm>
            <a:off x="6865144" y="2833985"/>
            <a:ext cx="190500" cy="190500"/>
          </a:xfrm>
          <a:prstGeom prst="roundRect">
            <a:avLst>
              <a:gd name="adj" fmla="val 20000"/>
            </a:avLst>
          </a:prstGeom>
          <a:solidFill>
            <a:srgbClr val="D946EF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1" name="Google Shape;181;p18"/>
          <p:cNvSpPr/>
          <p:nvPr/>
        </p:nvSpPr>
        <p:spPr>
          <a:xfrm>
            <a:off x="6865144" y="3294385"/>
            <a:ext cx="190500" cy="190500"/>
          </a:xfrm>
          <a:prstGeom prst="roundRect">
            <a:avLst>
              <a:gd name="adj" fmla="val 20000"/>
            </a:avLst>
          </a:prstGeom>
          <a:solidFill>
            <a:srgbClr val="67E8F9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2" name="Google Shape;182;p18"/>
          <p:cNvSpPr/>
          <p:nvPr/>
        </p:nvSpPr>
        <p:spPr>
          <a:xfrm>
            <a:off x="6865144" y="3729335"/>
            <a:ext cx="190500" cy="190500"/>
          </a:xfrm>
          <a:prstGeom prst="roundRect">
            <a:avLst>
              <a:gd name="adj" fmla="val 20000"/>
            </a:avLst>
          </a:prstGeom>
          <a:solidFill>
            <a:srgbClr val="94A3B8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3" name="Google Shape;183;p18"/>
          <p:cNvSpPr/>
          <p:nvPr/>
        </p:nvSpPr>
        <p:spPr>
          <a:xfrm>
            <a:off x="6865144" y="4177010"/>
            <a:ext cx="190500" cy="190500"/>
          </a:xfrm>
          <a:prstGeom prst="roundRect">
            <a:avLst>
              <a:gd name="adj" fmla="val 20000"/>
            </a:avLst>
          </a:prstGeom>
          <a:solidFill>
            <a:srgbClr val="33415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4" name="Google Shape;184;p18"/>
          <p:cNvSpPr txBox="1"/>
          <p:nvPr/>
        </p:nvSpPr>
        <p:spPr>
          <a:xfrm>
            <a:off x="771525" y="913060"/>
            <a:ext cx="11381422" cy="4857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150" b="1" i="0" u="none" strike="noStrike" cap="none">
                <a:solidFill>
                  <a:srgbClr val="F8FAFC"/>
                </a:solidFill>
                <a:latin typeface="Urbanist"/>
                <a:ea typeface="Urbanist"/>
                <a:cs typeface="Urbanist"/>
                <a:sym typeface="Urbanist"/>
              </a:rPr>
              <a:t>NEGOTIATION EFFECTIVENESS</a:t>
            </a:r>
            <a:endParaRPr/>
          </a:p>
        </p:txBody>
      </p:sp>
      <p:sp>
        <p:nvSpPr>
          <p:cNvPr id="185" name="Google Shape;185;p18"/>
          <p:cNvSpPr/>
          <p:nvPr/>
        </p:nvSpPr>
        <p:spPr>
          <a:xfrm>
            <a:off x="581025" y="913060"/>
            <a:ext cx="57150" cy="485775"/>
          </a:xfrm>
          <a:prstGeom prst="rect">
            <a:avLst/>
          </a:prstGeom>
          <a:solidFill>
            <a:srgbClr val="D946EF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20617"/>
        </a:solidFill>
        <a:effectLst/>
      </p:bgPr>
    </p:bg>
    <p:spTree>
      <p:nvGrpSpPr>
        <p:cNvPr id="1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90" name="Google Shape;190;p19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91" name="Google Shape;191;p19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581025" y="2325290"/>
            <a:ext cx="11029950" cy="3333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92" name="Google Shape;192;p19" descr="image.pn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581025" y="3153965"/>
            <a:ext cx="11029950" cy="3333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93" name="Google Shape;193;p19" descr="image.png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581025" y="4106465"/>
            <a:ext cx="5324475" cy="1882080"/>
          </a:xfrm>
          <a:prstGeom prst="rect">
            <a:avLst/>
          </a:prstGeom>
          <a:noFill/>
          <a:ln>
            <a:noFill/>
          </a:ln>
        </p:spPr>
      </p:pic>
      <p:pic>
        <p:nvPicPr>
          <p:cNvPr id="194" name="Google Shape;194;p19" descr="image.png"/>
          <p:cNvPicPr preferRelativeResize="0"/>
          <p:nvPr/>
        </p:nvPicPr>
        <p:blipFill rotWithShape="1">
          <a:blip r:embed="rId7">
            <a:alphaModFix/>
          </a:blip>
          <a:srcRect/>
          <a:stretch/>
        </p:blipFill>
        <p:spPr>
          <a:xfrm>
            <a:off x="6286500" y="4106465"/>
            <a:ext cx="5324475" cy="1882080"/>
          </a:xfrm>
          <a:prstGeom prst="rect">
            <a:avLst/>
          </a:prstGeom>
          <a:noFill/>
          <a:ln>
            <a:noFill/>
          </a:ln>
        </p:spPr>
      </p:pic>
      <p:pic>
        <p:nvPicPr>
          <p:cNvPr id="195" name="Google Shape;195;p19" descr="image.png"/>
          <p:cNvPicPr preferRelativeResize="0"/>
          <p:nvPr/>
        </p:nvPicPr>
        <p:blipFill rotWithShape="1">
          <a:blip r:embed="rId8">
            <a:alphaModFix/>
          </a:blip>
          <a:srcRect/>
          <a:stretch/>
        </p:blipFill>
        <p:spPr>
          <a:xfrm>
            <a:off x="581025" y="2325290"/>
            <a:ext cx="9595991" cy="3333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96" name="Google Shape;196;p19" descr="image.png"/>
          <p:cNvPicPr preferRelativeResize="0"/>
          <p:nvPr/>
        </p:nvPicPr>
        <p:blipFill rotWithShape="1">
          <a:blip r:embed="rId9">
            <a:alphaModFix/>
          </a:blip>
          <a:srcRect/>
          <a:stretch/>
        </p:blipFill>
        <p:spPr>
          <a:xfrm>
            <a:off x="581025" y="3153965"/>
            <a:ext cx="8823870" cy="333375"/>
          </a:xfrm>
          <a:prstGeom prst="rect">
            <a:avLst/>
          </a:prstGeom>
          <a:noFill/>
          <a:ln>
            <a:noFill/>
          </a:ln>
        </p:spPr>
      </p:pic>
      <p:sp>
        <p:nvSpPr>
          <p:cNvPr id="197" name="Google Shape;197;p19"/>
          <p:cNvSpPr txBox="1"/>
          <p:nvPr/>
        </p:nvSpPr>
        <p:spPr>
          <a:xfrm>
            <a:off x="581025" y="2068115"/>
            <a:ext cx="11029950" cy="18466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u="none" strike="noStrike" cap="none" dirty="0">
                <a:solidFill>
                  <a:srgbClr val="F8FAFC"/>
                </a:solidFill>
                <a:latin typeface="Urbanist SemiBold"/>
                <a:ea typeface="Urbanist SemiBold"/>
                <a:cs typeface="Urbanist SemiBold"/>
                <a:sym typeface="Urbanist SemiBold"/>
              </a:rPr>
              <a:t>Non-Preferred Suppliers ($604M Total Spend) 8.7% Savings</a:t>
            </a:r>
            <a:endParaRPr dirty="0"/>
          </a:p>
        </p:txBody>
      </p:sp>
      <p:sp>
        <p:nvSpPr>
          <p:cNvPr id="198" name="Google Shape;198;p19"/>
          <p:cNvSpPr txBox="1"/>
          <p:nvPr/>
        </p:nvSpPr>
        <p:spPr>
          <a:xfrm>
            <a:off x="581025" y="2896790"/>
            <a:ext cx="11029950" cy="18466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u="none" strike="noStrike" cap="none" dirty="0">
                <a:solidFill>
                  <a:srgbClr val="F8FAFC"/>
                </a:solidFill>
                <a:latin typeface="Urbanist SemiBold"/>
                <a:ea typeface="Urbanist SemiBold"/>
                <a:cs typeface="Urbanist SemiBold"/>
                <a:sym typeface="Urbanist SemiBold"/>
              </a:rPr>
              <a:t>Preferred Suppliers ($304M Total Spend) 8.08% Savings</a:t>
            </a:r>
            <a:endParaRPr dirty="0"/>
          </a:p>
        </p:txBody>
      </p:sp>
      <p:sp>
        <p:nvSpPr>
          <p:cNvPr id="199" name="Google Shape;199;p19"/>
          <p:cNvSpPr txBox="1"/>
          <p:nvPr/>
        </p:nvSpPr>
        <p:spPr>
          <a:xfrm>
            <a:off x="781050" y="4403829"/>
            <a:ext cx="5170646" cy="3238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100" b="0" i="0" u="none" strike="noStrike" cap="none" dirty="0">
                <a:solidFill>
                  <a:srgbClr val="F87171"/>
                </a:solidFill>
                <a:latin typeface="Urbanist SemiBold"/>
                <a:ea typeface="Urbanist SemiBold"/>
                <a:cs typeface="Urbanist SemiBold"/>
                <a:sym typeface="Urbanist SemiBold"/>
              </a:rPr>
              <a:t>Structural Anomaly</a:t>
            </a:r>
            <a:endParaRPr dirty="0"/>
          </a:p>
        </p:txBody>
      </p:sp>
      <p:sp>
        <p:nvSpPr>
          <p:cNvPr id="200" name="Google Shape;200;p19"/>
          <p:cNvSpPr txBox="1"/>
          <p:nvPr/>
        </p:nvSpPr>
        <p:spPr>
          <a:xfrm>
            <a:off x="781050" y="4727679"/>
            <a:ext cx="4924425" cy="5485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0" i="0" u="none" strike="noStrike" cap="none" dirty="0">
                <a:solidFill>
                  <a:srgbClr val="CBD5E1"/>
                </a:solidFill>
                <a:latin typeface="Urbanist"/>
                <a:ea typeface="Urbanist"/>
                <a:cs typeface="Urbanist"/>
                <a:sym typeface="Urbanist"/>
              </a:rPr>
              <a:t>Non-preferred vendors have higher ESG scores (61.84 vs 57.25) and faster delivery (3 days late vs 4 days for preferred).</a:t>
            </a:r>
            <a:endParaRPr dirty="0"/>
          </a:p>
        </p:txBody>
      </p:sp>
      <p:sp>
        <p:nvSpPr>
          <p:cNvPr id="201" name="Google Shape;201;p19"/>
          <p:cNvSpPr txBox="1"/>
          <p:nvPr/>
        </p:nvSpPr>
        <p:spPr>
          <a:xfrm>
            <a:off x="6486525" y="4403829"/>
            <a:ext cx="5170646" cy="3238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100" b="0" i="0" u="none" strike="noStrike" cap="none" dirty="0">
                <a:solidFill>
                  <a:srgbClr val="4ADE80"/>
                </a:solidFill>
                <a:latin typeface="Urbanist SemiBold"/>
                <a:ea typeface="Urbanist SemiBold"/>
                <a:cs typeface="Urbanist SemiBold"/>
                <a:sym typeface="Urbanist SemiBold"/>
              </a:rPr>
              <a:t>Recommendation</a:t>
            </a:r>
            <a:endParaRPr dirty="0"/>
          </a:p>
        </p:txBody>
      </p:sp>
      <p:sp>
        <p:nvSpPr>
          <p:cNvPr id="202" name="Google Shape;202;p19"/>
          <p:cNvSpPr txBox="1"/>
          <p:nvPr/>
        </p:nvSpPr>
        <p:spPr>
          <a:xfrm>
            <a:off x="6486525" y="4727679"/>
            <a:ext cx="4924425" cy="5485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0" i="0" u="none" strike="noStrike" cap="none" dirty="0">
                <a:solidFill>
                  <a:srgbClr val="CBD5E1"/>
                </a:solidFill>
                <a:latin typeface="Urbanist"/>
                <a:ea typeface="Urbanist"/>
                <a:cs typeface="Urbanist"/>
                <a:sym typeface="Urbanist"/>
              </a:rPr>
              <a:t>Upgrade high-performing non-preferred vendors to strategic priority status to formalize high-value relationships.</a:t>
            </a:r>
            <a:endParaRPr dirty="0"/>
          </a:p>
        </p:txBody>
      </p:sp>
      <p:sp>
        <p:nvSpPr>
          <p:cNvPr id="203" name="Google Shape;203;p19"/>
          <p:cNvSpPr txBox="1"/>
          <p:nvPr/>
        </p:nvSpPr>
        <p:spPr>
          <a:xfrm>
            <a:off x="771525" y="913060"/>
            <a:ext cx="11381422" cy="4857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150" b="1" i="0" u="none" strike="noStrike" cap="none">
                <a:solidFill>
                  <a:srgbClr val="F8FAFC"/>
                </a:solidFill>
                <a:latin typeface="Urbanist"/>
                <a:ea typeface="Urbanist"/>
                <a:cs typeface="Urbanist"/>
                <a:sym typeface="Urbanist"/>
              </a:rPr>
              <a:t>THE PREFERRED SUPPLIER PARADOX</a:t>
            </a:r>
            <a:endParaRPr/>
          </a:p>
        </p:txBody>
      </p:sp>
      <p:sp>
        <p:nvSpPr>
          <p:cNvPr id="204" name="Google Shape;204;p19"/>
          <p:cNvSpPr/>
          <p:nvPr/>
        </p:nvSpPr>
        <p:spPr>
          <a:xfrm>
            <a:off x="581025" y="913060"/>
            <a:ext cx="57150" cy="485775"/>
          </a:xfrm>
          <a:prstGeom prst="rect">
            <a:avLst/>
          </a:prstGeom>
          <a:solidFill>
            <a:srgbClr val="D946EF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20617"/>
        </a:solidFill>
        <a:effectLst/>
      </p:bgPr>
    </p:bg>
    <p:spTree>
      <p:nvGrpSpPr>
        <p:cNvPr id="1" name="Shape 2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9" name="Google Shape;209;p20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210" name="Google Shape;210;p20"/>
          <p:cNvSpPr txBox="1"/>
          <p:nvPr/>
        </p:nvSpPr>
        <p:spPr>
          <a:xfrm>
            <a:off x="581025" y="913060"/>
            <a:ext cx="5190648" cy="4857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150" b="1" i="0" u="none" strike="noStrike" cap="none" dirty="0">
                <a:solidFill>
                  <a:srgbClr val="F8FAFC"/>
                </a:solidFill>
                <a:latin typeface="Urbanist"/>
                <a:ea typeface="Urbanist"/>
                <a:cs typeface="Urbanist"/>
                <a:sym typeface="Urbanist"/>
              </a:rPr>
              <a:t>OTIF PERFORMANCE</a:t>
            </a:r>
            <a:endParaRPr dirty="0"/>
          </a:p>
        </p:txBody>
      </p:sp>
      <p:sp>
        <p:nvSpPr>
          <p:cNvPr id="211" name="Google Shape;211;p20"/>
          <p:cNvSpPr/>
          <p:nvPr/>
        </p:nvSpPr>
        <p:spPr>
          <a:xfrm>
            <a:off x="390525" y="913060"/>
            <a:ext cx="57150" cy="485775"/>
          </a:xfrm>
          <a:prstGeom prst="rect">
            <a:avLst/>
          </a:prstGeom>
          <a:solidFill>
            <a:srgbClr val="D946EF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2" name="Google Shape;212;p20"/>
          <p:cNvSpPr txBox="1"/>
          <p:nvPr/>
        </p:nvSpPr>
        <p:spPr>
          <a:xfrm>
            <a:off x="581025" y="1789210"/>
            <a:ext cx="5190648" cy="3238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100" b="0" i="0" u="none" strike="noStrike" cap="none" dirty="0">
                <a:solidFill>
                  <a:srgbClr val="67E8F9"/>
                </a:solidFill>
                <a:latin typeface="Urbanist SemiBold"/>
                <a:ea typeface="Urbanist SemiBold"/>
                <a:cs typeface="Urbanist SemiBold"/>
                <a:sym typeface="Urbanist SemiBold"/>
              </a:rPr>
              <a:t>Delivery Realities</a:t>
            </a:r>
            <a:endParaRPr dirty="0"/>
          </a:p>
        </p:txBody>
      </p:sp>
      <p:sp>
        <p:nvSpPr>
          <p:cNvPr id="213" name="Google Shape;213;p20"/>
          <p:cNvSpPr txBox="1"/>
          <p:nvPr/>
        </p:nvSpPr>
        <p:spPr>
          <a:xfrm>
            <a:off x="576261" y="2229145"/>
            <a:ext cx="4943475" cy="5485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0" i="0" u="none" strike="noStrike" cap="none" dirty="0">
                <a:solidFill>
                  <a:srgbClr val="CBD5E1"/>
                </a:solidFill>
                <a:latin typeface="Urbanist"/>
                <a:ea typeface="Urbanist"/>
                <a:cs typeface="Urbanist"/>
                <a:sym typeface="Urbanist"/>
              </a:rPr>
              <a:t>Overall average on-time delivery rate sits at only </a:t>
            </a:r>
            <a:r>
              <a:rPr lang="en-US" sz="1350" b="1" i="0" u="none" strike="noStrike" cap="none" dirty="0">
                <a:solidFill>
                  <a:srgbClr val="CBD5E1"/>
                </a:solidFill>
                <a:latin typeface="Urbanist"/>
                <a:ea typeface="Urbanist"/>
                <a:cs typeface="Urbanist"/>
                <a:sym typeface="Urbanist"/>
              </a:rPr>
              <a:t>64.13%</a:t>
            </a:r>
            <a:r>
              <a:rPr lang="en-US" sz="1350" b="0" i="0" u="none" strike="noStrike" cap="none" dirty="0">
                <a:solidFill>
                  <a:srgbClr val="CBD5E1"/>
                </a:solidFill>
                <a:latin typeface="Urbanist"/>
                <a:ea typeface="Urbanist"/>
                <a:cs typeface="Urbanist"/>
                <a:sym typeface="Urbanist"/>
              </a:rPr>
              <a:t>. Even tier-1 logistics partners average 3-5 days late on major orders.</a:t>
            </a:r>
            <a:endParaRPr dirty="0"/>
          </a:p>
        </p:txBody>
      </p:sp>
      <p:sp>
        <p:nvSpPr>
          <p:cNvPr id="214" name="Google Shape;214;p20"/>
          <p:cNvSpPr txBox="1"/>
          <p:nvPr/>
        </p:nvSpPr>
        <p:spPr>
          <a:xfrm>
            <a:off x="576258" y="2979093"/>
            <a:ext cx="4943475" cy="5485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0" i="0" u="none" strike="noStrike" cap="none" dirty="0">
                <a:solidFill>
                  <a:srgbClr val="CBD5E1"/>
                </a:solidFill>
                <a:latin typeface="Urbanist"/>
                <a:ea typeface="Urbanist"/>
                <a:cs typeface="Urbanist"/>
                <a:sym typeface="Urbanist"/>
              </a:rPr>
              <a:t>Contract type influences speed: Long-term contracts show slightly better lead times (35 days) vs Framework (36 days).</a:t>
            </a:r>
            <a:endParaRPr dirty="0"/>
          </a:p>
        </p:txBody>
      </p:sp>
      <p:sp>
        <p:nvSpPr>
          <p:cNvPr id="215" name="Google Shape;215;p20"/>
          <p:cNvSpPr txBox="1"/>
          <p:nvPr/>
        </p:nvSpPr>
        <p:spPr>
          <a:xfrm>
            <a:off x="576257" y="3729041"/>
            <a:ext cx="4943475" cy="5485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0" i="0" u="none" strike="noStrike" cap="none" dirty="0">
                <a:solidFill>
                  <a:srgbClr val="CBD5E1"/>
                </a:solidFill>
                <a:latin typeface="Urbanist"/>
                <a:ea typeface="Urbanist"/>
                <a:cs typeface="Urbanist"/>
                <a:sym typeface="Urbanist"/>
              </a:rPr>
              <a:t>Strategic shift required: Integrate financial penalties into SLAs for delivery rates falling below 65%.</a:t>
            </a:r>
            <a:endParaRPr dirty="0"/>
          </a:p>
        </p:txBody>
      </p:sp>
      <p:pic>
        <p:nvPicPr>
          <p:cNvPr id="216" name="Google Shape;216;p20"/>
          <p:cNvPicPr preferRelativeResize="0"/>
          <p:nvPr/>
        </p:nvPicPr>
        <p:blipFill>
          <a:blip r:embed="rId4">
            <a:alphaModFix/>
          </a:blip>
          <a:srcRect/>
          <a:stretch/>
        </p:blipFill>
        <p:spPr>
          <a:xfrm>
            <a:off x="5771673" y="913060"/>
            <a:ext cx="6086475" cy="503148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20617"/>
        </a:solidFill>
        <a:effectLst/>
      </p:bgPr>
    </p:bg>
    <p:spTree>
      <p:nvGrpSpPr>
        <p:cNvPr id="1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1" name="Google Shape;221;p21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22" name="Google Shape;222;p21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764827" y="2629197"/>
            <a:ext cx="3308895" cy="2798415"/>
          </a:xfrm>
          <a:prstGeom prst="rect">
            <a:avLst/>
          </a:prstGeom>
          <a:noFill/>
          <a:ln>
            <a:noFill/>
          </a:ln>
        </p:spPr>
      </p:pic>
      <p:pic>
        <p:nvPicPr>
          <p:cNvPr id="223" name="Google Shape;223;p21" descr="image.pn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4441477" y="2629197"/>
            <a:ext cx="3308895" cy="2798415"/>
          </a:xfrm>
          <a:prstGeom prst="rect">
            <a:avLst/>
          </a:prstGeom>
          <a:noFill/>
          <a:ln>
            <a:noFill/>
          </a:ln>
        </p:spPr>
      </p:pic>
      <p:pic>
        <p:nvPicPr>
          <p:cNvPr id="224" name="Google Shape;224;p21" descr="image.pn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8118127" y="2629197"/>
            <a:ext cx="3308895" cy="2798415"/>
          </a:xfrm>
          <a:prstGeom prst="rect">
            <a:avLst/>
          </a:prstGeom>
          <a:noFill/>
          <a:ln>
            <a:noFill/>
          </a:ln>
        </p:spPr>
      </p:pic>
      <p:sp>
        <p:nvSpPr>
          <p:cNvPr id="225" name="Google Shape;225;p21"/>
          <p:cNvSpPr txBox="1"/>
          <p:nvPr/>
        </p:nvSpPr>
        <p:spPr>
          <a:xfrm>
            <a:off x="1155352" y="3019722"/>
            <a:ext cx="2527845" cy="10096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6000" b="1" i="0" u="none" strike="noStrike" cap="none">
                <a:solidFill>
                  <a:srgbClr val="D946EF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10.8%</a:t>
            </a:r>
            <a:endParaRPr/>
          </a:p>
        </p:txBody>
      </p:sp>
      <p:sp>
        <p:nvSpPr>
          <p:cNvPr id="226" name="Google Shape;226;p21"/>
          <p:cNvSpPr txBox="1"/>
          <p:nvPr/>
        </p:nvSpPr>
        <p:spPr>
          <a:xfrm>
            <a:off x="1155352" y="4219872"/>
            <a:ext cx="2527845" cy="2762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0" i="0" u="none" strike="noStrike" cap="none">
                <a:solidFill>
                  <a:srgbClr val="94A3B8"/>
                </a:solidFill>
                <a:latin typeface="Urbanist"/>
                <a:ea typeface="Urbanist"/>
                <a:cs typeface="Urbanist"/>
                <a:sym typeface="Urbanist"/>
              </a:rPr>
              <a:t>Maverick Spend</a:t>
            </a:r>
            <a:endParaRPr/>
          </a:p>
        </p:txBody>
      </p:sp>
      <p:sp>
        <p:nvSpPr>
          <p:cNvPr id="227" name="Google Shape;227;p21"/>
          <p:cNvSpPr txBox="1"/>
          <p:nvPr/>
        </p:nvSpPr>
        <p:spPr>
          <a:xfrm>
            <a:off x="1155352" y="4591347"/>
            <a:ext cx="2527845" cy="2742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0" i="0" u="none" strike="noStrike" cap="none">
                <a:solidFill>
                  <a:srgbClr val="CBD5E1"/>
                </a:solidFill>
                <a:latin typeface="Urbanist"/>
                <a:ea typeface="Urbanist"/>
                <a:cs typeface="Urbanist"/>
                <a:sym typeface="Urbanist"/>
              </a:rPr>
              <a:t>$98.19M bypassed approval</a:t>
            </a:r>
            <a:endParaRPr/>
          </a:p>
        </p:txBody>
      </p:sp>
      <p:sp>
        <p:nvSpPr>
          <p:cNvPr id="228" name="Google Shape;228;p21"/>
          <p:cNvSpPr txBox="1"/>
          <p:nvPr/>
        </p:nvSpPr>
        <p:spPr>
          <a:xfrm>
            <a:off x="4832002" y="3019722"/>
            <a:ext cx="2527845" cy="10096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6000" b="1" i="0" u="none" strike="noStrike" cap="none">
                <a:solidFill>
                  <a:srgbClr val="D946EF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26.3%</a:t>
            </a:r>
            <a:endParaRPr/>
          </a:p>
        </p:txBody>
      </p:sp>
      <p:sp>
        <p:nvSpPr>
          <p:cNvPr id="229" name="Google Shape;229;p21"/>
          <p:cNvSpPr txBox="1"/>
          <p:nvPr/>
        </p:nvSpPr>
        <p:spPr>
          <a:xfrm>
            <a:off x="4832002" y="4219872"/>
            <a:ext cx="2527845" cy="2762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0" i="0" u="none" strike="noStrike" cap="none">
                <a:solidFill>
                  <a:srgbClr val="94A3B8"/>
                </a:solidFill>
                <a:latin typeface="Urbanist"/>
                <a:ea typeface="Urbanist"/>
                <a:cs typeface="Urbanist"/>
                <a:sym typeface="Urbanist"/>
              </a:rPr>
              <a:t>Unmatched Invoices</a:t>
            </a:r>
            <a:endParaRPr/>
          </a:p>
        </p:txBody>
      </p:sp>
      <p:sp>
        <p:nvSpPr>
          <p:cNvPr id="230" name="Google Shape;230;p21"/>
          <p:cNvSpPr txBox="1"/>
          <p:nvPr/>
        </p:nvSpPr>
        <p:spPr>
          <a:xfrm>
            <a:off x="4832002" y="4591347"/>
            <a:ext cx="2527845" cy="2742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0" i="0" u="none" strike="noStrike" cap="none">
                <a:solidFill>
                  <a:srgbClr val="CBD5E1"/>
                </a:solidFill>
                <a:latin typeface="Urbanist"/>
                <a:ea typeface="Urbanist"/>
                <a:cs typeface="Urbanist"/>
                <a:sym typeface="Urbanist"/>
              </a:rPr>
              <a:t>Severe payment risk indicator</a:t>
            </a:r>
            <a:endParaRPr/>
          </a:p>
        </p:txBody>
      </p:sp>
      <p:sp>
        <p:nvSpPr>
          <p:cNvPr id="231" name="Google Shape;231;p21"/>
          <p:cNvSpPr txBox="1"/>
          <p:nvPr/>
        </p:nvSpPr>
        <p:spPr>
          <a:xfrm>
            <a:off x="8508652" y="3019722"/>
            <a:ext cx="2527845" cy="10096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6000" b="1" i="0" u="none" strike="noStrike" cap="none">
                <a:solidFill>
                  <a:srgbClr val="D946EF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15.5%</a:t>
            </a:r>
            <a:endParaRPr/>
          </a:p>
        </p:txBody>
      </p:sp>
      <p:sp>
        <p:nvSpPr>
          <p:cNvPr id="232" name="Google Shape;232;p21"/>
          <p:cNvSpPr txBox="1"/>
          <p:nvPr/>
        </p:nvSpPr>
        <p:spPr>
          <a:xfrm>
            <a:off x="8508652" y="4219872"/>
            <a:ext cx="2527845" cy="2762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0" i="0" u="none" strike="noStrike" cap="none">
                <a:solidFill>
                  <a:srgbClr val="94A3B8"/>
                </a:solidFill>
                <a:latin typeface="Urbanist"/>
                <a:ea typeface="Urbanist"/>
                <a:cs typeface="Urbanist"/>
                <a:sym typeface="Urbanist"/>
              </a:rPr>
              <a:t>Overdue Payments</a:t>
            </a:r>
            <a:endParaRPr/>
          </a:p>
        </p:txBody>
      </p:sp>
      <p:sp>
        <p:nvSpPr>
          <p:cNvPr id="233" name="Google Shape;233;p21"/>
          <p:cNvSpPr txBox="1"/>
          <p:nvPr/>
        </p:nvSpPr>
        <p:spPr>
          <a:xfrm>
            <a:off x="8508652" y="4591347"/>
            <a:ext cx="2527845" cy="2742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0" i="0" u="none" strike="noStrike" cap="none">
                <a:solidFill>
                  <a:srgbClr val="CBD5E1"/>
                </a:solidFill>
                <a:latin typeface="Urbanist"/>
                <a:ea typeface="Urbanist"/>
                <a:cs typeface="Urbanist"/>
                <a:sym typeface="Urbanist"/>
              </a:rPr>
              <a:t>Straining supplier relationships</a:t>
            </a:r>
            <a:endParaRPr/>
          </a:p>
        </p:txBody>
      </p:sp>
      <p:sp>
        <p:nvSpPr>
          <p:cNvPr id="234" name="Google Shape;234;p21"/>
          <p:cNvSpPr txBox="1"/>
          <p:nvPr/>
        </p:nvSpPr>
        <p:spPr>
          <a:xfrm>
            <a:off x="771525" y="913060"/>
            <a:ext cx="11381422" cy="4857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150" b="1" i="0" u="none" strike="noStrike" cap="none">
                <a:solidFill>
                  <a:srgbClr val="F8FAFC"/>
                </a:solidFill>
                <a:latin typeface="Urbanist"/>
                <a:ea typeface="Urbanist"/>
                <a:cs typeface="Urbanist"/>
                <a:sym typeface="Urbanist"/>
              </a:rPr>
              <a:t>P2P COMPLIANCE RISKS</a:t>
            </a:r>
            <a:endParaRPr/>
          </a:p>
        </p:txBody>
      </p:sp>
      <p:sp>
        <p:nvSpPr>
          <p:cNvPr id="235" name="Google Shape;235;p21"/>
          <p:cNvSpPr/>
          <p:nvPr/>
        </p:nvSpPr>
        <p:spPr>
          <a:xfrm>
            <a:off x="581025" y="913060"/>
            <a:ext cx="57150" cy="485775"/>
          </a:xfrm>
          <a:prstGeom prst="rect">
            <a:avLst/>
          </a:prstGeom>
          <a:solidFill>
            <a:srgbClr val="D946EF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20617"/>
        </a:solidFill>
        <a:effectLst/>
      </p:bgPr>
    </p:bg>
    <p:spTree>
      <p:nvGrpSpPr>
        <p:cNvPr id="1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40" name="Google Shape;240;p22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41" name="Google Shape;241;p22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581025" y="2123330"/>
            <a:ext cx="3810000" cy="3810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42" name="Google Shape;242;p22" descr="image.pn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657225" y="2199530"/>
            <a:ext cx="3657600" cy="3657600"/>
          </a:xfrm>
          <a:prstGeom prst="rect">
            <a:avLst/>
          </a:prstGeom>
          <a:noFill/>
          <a:ln>
            <a:noFill/>
          </a:ln>
        </p:spPr>
      </p:pic>
      <p:sp>
        <p:nvSpPr>
          <p:cNvPr id="243" name="Google Shape;243;p22"/>
          <p:cNvSpPr txBox="1"/>
          <p:nvPr/>
        </p:nvSpPr>
        <p:spPr>
          <a:xfrm>
            <a:off x="4962525" y="2615951"/>
            <a:ext cx="6980872" cy="4095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700" b="0" i="0" u="none" strike="noStrike" cap="none">
                <a:solidFill>
                  <a:srgbClr val="EF4444"/>
                </a:solidFill>
                <a:latin typeface="Urbanist SemiBold"/>
                <a:ea typeface="Urbanist SemiBold"/>
                <a:cs typeface="Urbanist SemiBold"/>
                <a:sym typeface="Urbanist SemiBold"/>
              </a:rPr>
              <a:t>Atlantic Raw Materials</a:t>
            </a:r>
            <a:endParaRPr/>
          </a:p>
        </p:txBody>
      </p:sp>
      <p:sp>
        <p:nvSpPr>
          <p:cNvPr id="244" name="Google Shape;244;p22"/>
          <p:cNvSpPr txBox="1"/>
          <p:nvPr/>
        </p:nvSpPr>
        <p:spPr>
          <a:xfrm>
            <a:off x="4962525" y="3235076"/>
            <a:ext cx="6648450" cy="3351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50" b="0" i="0" u="none" strike="noStrike" cap="none">
                <a:solidFill>
                  <a:srgbClr val="CBD5E1"/>
                </a:solidFill>
                <a:latin typeface="Urbanist"/>
                <a:ea typeface="Urbanist"/>
                <a:cs typeface="Urbanist"/>
                <a:sym typeface="Urbanist"/>
              </a:rPr>
              <a:t>Vendor ID: </a:t>
            </a:r>
            <a:r>
              <a:rPr lang="en-US" sz="1650" b="1" i="0" u="none" strike="noStrike" cap="none">
                <a:solidFill>
                  <a:srgbClr val="CBD5E1"/>
                </a:solidFill>
                <a:latin typeface="Urbanist"/>
                <a:ea typeface="Urbanist"/>
                <a:cs typeface="Urbanist"/>
                <a:sym typeface="Urbanist"/>
              </a:rPr>
              <a:t>SUP-011 (Risk: High)</a:t>
            </a:r>
            <a:endParaRPr/>
          </a:p>
        </p:txBody>
      </p:sp>
      <p:sp>
        <p:nvSpPr>
          <p:cNvPr id="245" name="Google Shape;245;p22"/>
          <p:cNvSpPr txBox="1"/>
          <p:nvPr/>
        </p:nvSpPr>
        <p:spPr>
          <a:xfrm>
            <a:off x="4962525" y="5337720"/>
            <a:ext cx="6648450" cy="2742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1" i="0" u="none" strike="noStrike" cap="none" dirty="0">
                <a:solidFill>
                  <a:srgbClr val="EF4444"/>
                </a:solidFill>
                <a:latin typeface="Urbanist"/>
                <a:ea typeface="Urbanist"/>
                <a:cs typeface="Urbanist"/>
                <a:sym typeface="Urbanist"/>
              </a:rPr>
              <a:t>ACTION REQUIRED: IMMEDIATE ACCOUNT RECONCILIATION</a:t>
            </a:r>
            <a:endParaRPr dirty="0"/>
          </a:p>
        </p:txBody>
      </p:sp>
      <p:sp>
        <p:nvSpPr>
          <p:cNvPr id="246" name="Google Shape;246;p22"/>
          <p:cNvSpPr txBox="1"/>
          <p:nvPr/>
        </p:nvSpPr>
        <p:spPr>
          <a:xfrm>
            <a:off x="5391150" y="3760737"/>
            <a:ext cx="6219825" cy="3351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50" b="1" i="0" u="none" strike="noStrike" cap="none">
                <a:solidFill>
                  <a:srgbClr val="F8FAFC"/>
                </a:solidFill>
                <a:latin typeface="Urbanist"/>
                <a:ea typeface="Urbanist"/>
                <a:cs typeface="Urbanist"/>
                <a:sym typeface="Urbanist"/>
              </a:rPr>
              <a:t>16 Red-Flagged Orders</a:t>
            </a:r>
            <a:r>
              <a:rPr lang="en-US" sz="1650" b="0" i="0" u="none" strike="noStrike" cap="none">
                <a:solidFill>
                  <a:srgbClr val="F8FAFC"/>
                </a:solidFill>
                <a:latin typeface="Urbanist"/>
                <a:ea typeface="Urbanist"/>
                <a:cs typeface="Urbanist"/>
                <a:sym typeface="Urbanist"/>
              </a:rPr>
              <a:t> currently in system.</a:t>
            </a:r>
            <a:endParaRPr/>
          </a:p>
        </p:txBody>
      </p:sp>
      <p:sp>
        <p:nvSpPr>
          <p:cNvPr id="247" name="Google Shape;247;p22"/>
          <p:cNvSpPr txBox="1"/>
          <p:nvPr/>
        </p:nvSpPr>
        <p:spPr>
          <a:xfrm>
            <a:off x="5391150" y="4286398"/>
            <a:ext cx="6219825" cy="3351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50" b="1" i="0" u="none" strike="noStrike" cap="none">
                <a:solidFill>
                  <a:srgbClr val="F8FAFC"/>
                </a:solidFill>
                <a:latin typeface="Urbanist"/>
                <a:ea typeface="Urbanist"/>
                <a:cs typeface="Urbanist"/>
                <a:sym typeface="Urbanist"/>
              </a:rPr>
              <a:t>$6.2M Unpaid/Disputed</a:t>
            </a:r>
            <a:r>
              <a:rPr lang="en-US" sz="1650" b="0" i="0" u="none" strike="noStrike" cap="none">
                <a:solidFill>
                  <a:srgbClr val="F8FAFC"/>
                </a:solidFill>
                <a:latin typeface="Urbanist"/>
                <a:ea typeface="Urbanist"/>
                <a:cs typeface="Urbanist"/>
                <a:sym typeface="Urbanist"/>
              </a:rPr>
              <a:t> amounts pending.</a:t>
            </a:r>
            <a:endParaRPr/>
          </a:p>
        </p:txBody>
      </p:sp>
      <p:sp>
        <p:nvSpPr>
          <p:cNvPr id="248" name="Google Shape;248;p22"/>
          <p:cNvSpPr txBox="1"/>
          <p:nvPr/>
        </p:nvSpPr>
        <p:spPr>
          <a:xfrm>
            <a:off x="5391150" y="4812059"/>
            <a:ext cx="6219825" cy="4062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50" b="0" i="0" u="none" strike="noStrike" cap="none" dirty="0">
                <a:solidFill>
                  <a:srgbClr val="F8FAFC"/>
                </a:solidFill>
                <a:latin typeface="Urbanist"/>
                <a:ea typeface="Urbanist"/>
                <a:cs typeface="Urbanist"/>
                <a:sym typeface="Urbanist"/>
              </a:rPr>
              <a:t>Represents 19.8% of total department payment risk.</a:t>
            </a:r>
            <a:endParaRPr dirty="0"/>
          </a:p>
        </p:txBody>
      </p:sp>
      <p:sp>
        <p:nvSpPr>
          <p:cNvPr id="249" name="Google Shape;249;p22"/>
          <p:cNvSpPr txBox="1"/>
          <p:nvPr/>
        </p:nvSpPr>
        <p:spPr>
          <a:xfrm>
            <a:off x="771525" y="913060"/>
            <a:ext cx="11381422" cy="4857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150" b="1" i="0" u="none" strike="noStrike" cap="none">
                <a:solidFill>
                  <a:srgbClr val="F8FAFC"/>
                </a:solidFill>
                <a:latin typeface="Urbanist"/>
                <a:ea typeface="Urbanist"/>
                <a:cs typeface="Urbanist"/>
                <a:sym typeface="Urbanist"/>
              </a:rPr>
              <a:t>URGENT RISK NOTIFICATION</a:t>
            </a:r>
            <a:endParaRPr/>
          </a:p>
        </p:txBody>
      </p:sp>
      <p:sp>
        <p:nvSpPr>
          <p:cNvPr id="250" name="Google Shape;250;p22"/>
          <p:cNvSpPr/>
          <p:nvPr/>
        </p:nvSpPr>
        <p:spPr>
          <a:xfrm>
            <a:off x="581025" y="913060"/>
            <a:ext cx="57150" cy="485775"/>
          </a:xfrm>
          <a:prstGeom prst="rect">
            <a:avLst/>
          </a:prstGeom>
          <a:solidFill>
            <a:srgbClr val="D946EF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251" name="Google Shape;251;p22" descr="image.png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4962525" y="3760737"/>
            <a:ext cx="200025" cy="247650"/>
          </a:xfrm>
          <a:prstGeom prst="rect">
            <a:avLst/>
          </a:prstGeom>
          <a:noFill/>
          <a:ln>
            <a:noFill/>
          </a:ln>
        </p:spPr>
      </p:pic>
      <p:pic>
        <p:nvPicPr>
          <p:cNvPr id="252" name="Google Shape;252;p22" descr="image.png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4962525" y="4286398"/>
            <a:ext cx="200025" cy="247650"/>
          </a:xfrm>
          <a:prstGeom prst="rect">
            <a:avLst/>
          </a:prstGeom>
          <a:noFill/>
          <a:ln>
            <a:noFill/>
          </a:ln>
        </p:spPr>
      </p:pic>
      <p:pic>
        <p:nvPicPr>
          <p:cNvPr id="253" name="Google Shape;253;p22" descr="image.png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4962525" y="4812059"/>
            <a:ext cx="200025" cy="2476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20617"/>
        </a:solidFill>
        <a:effectLst/>
      </p:bgPr>
    </p:bg>
    <p:spTree>
      <p:nvGrpSpPr>
        <p:cNvPr id="1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58" name="Google Shape;258;p23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-2391" y="14964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259" name="Google Shape;259;p23"/>
          <p:cNvSpPr txBox="1"/>
          <p:nvPr/>
        </p:nvSpPr>
        <p:spPr>
          <a:xfrm>
            <a:off x="1009650" y="2714178"/>
            <a:ext cx="10601325" cy="3351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50" b="1" i="0" u="none" strike="noStrike" cap="none">
                <a:solidFill>
                  <a:srgbClr val="CBD5E1"/>
                </a:solidFill>
                <a:latin typeface="Urbanist"/>
                <a:ea typeface="Urbanist"/>
                <a:cs typeface="Urbanist"/>
                <a:sym typeface="Urbanist"/>
              </a:rPr>
              <a:t>Supplier Optimization:</a:t>
            </a:r>
            <a:r>
              <a:rPr lang="en-US" sz="1650" b="0" i="0" u="none" strike="noStrike" cap="none">
                <a:solidFill>
                  <a:srgbClr val="CBD5E1"/>
                </a:solidFill>
                <a:latin typeface="Urbanist"/>
                <a:ea typeface="Urbanist"/>
                <a:cs typeface="Urbanist"/>
                <a:sym typeface="Urbanist"/>
              </a:rPr>
              <a:t> Upgrade non-preferred vendors with high ESG and savings rates to strategic status.</a:t>
            </a:r>
            <a:endParaRPr/>
          </a:p>
        </p:txBody>
      </p:sp>
      <p:sp>
        <p:nvSpPr>
          <p:cNvPr id="260" name="Google Shape;260;p23"/>
          <p:cNvSpPr txBox="1"/>
          <p:nvPr/>
        </p:nvSpPr>
        <p:spPr>
          <a:xfrm>
            <a:off x="1009650" y="3239839"/>
            <a:ext cx="10601325" cy="3351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50" b="1" i="0" u="none" strike="noStrike" cap="none">
                <a:solidFill>
                  <a:srgbClr val="CBD5E1"/>
                </a:solidFill>
                <a:latin typeface="Urbanist"/>
                <a:ea typeface="Urbanist"/>
                <a:cs typeface="Urbanist"/>
                <a:sym typeface="Urbanist"/>
              </a:rPr>
              <a:t>Renegotiate Contracts:</a:t>
            </a:r>
            <a:r>
              <a:rPr lang="en-US" sz="1650" b="0" i="0" u="none" strike="noStrike" cap="none">
                <a:solidFill>
                  <a:srgbClr val="CBD5E1"/>
                </a:solidFill>
                <a:latin typeface="Urbanist"/>
                <a:ea typeface="Urbanist"/>
                <a:cs typeface="Urbanist"/>
                <a:sym typeface="Urbanist"/>
              </a:rPr>
              <a:t> Shift volume to Long-term contracts with tiered discounts to reduce Spot dependency.</a:t>
            </a:r>
            <a:endParaRPr/>
          </a:p>
        </p:txBody>
      </p:sp>
      <p:sp>
        <p:nvSpPr>
          <p:cNvPr id="261" name="Google Shape;261;p23"/>
          <p:cNvSpPr txBox="1"/>
          <p:nvPr/>
        </p:nvSpPr>
        <p:spPr>
          <a:xfrm>
            <a:off x="1009650" y="3765500"/>
            <a:ext cx="10601325" cy="3351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50" b="1" i="0" u="none" strike="noStrike" cap="none">
                <a:solidFill>
                  <a:srgbClr val="CBD5E1"/>
                </a:solidFill>
                <a:latin typeface="Urbanist"/>
                <a:ea typeface="Urbanist"/>
                <a:cs typeface="Urbanist"/>
                <a:sym typeface="Urbanist"/>
              </a:rPr>
              <a:t>Tighten P2P Controls:</a:t>
            </a:r>
            <a:r>
              <a:rPr lang="en-US" sz="1650" b="0" i="0" u="none" strike="noStrike" cap="none">
                <a:solidFill>
                  <a:srgbClr val="CBD5E1"/>
                </a:solidFill>
                <a:latin typeface="Urbanist"/>
                <a:ea typeface="Urbanist"/>
                <a:cs typeface="Urbanist"/>
                <a:sym typeface="Urbanist"/>
              </a:rPr>
              <a:t> Implement ERP hard stops for PO approval to reduce Maverick Spend below 5%.</a:t>
            </a:r>
            <a:endParaRPr/>
          </a:p>
        </p:txBody>
      </p:sp>
      <p:sp>
        <p:nvSpPr>
          <p:cNvPr id="262" name="Google Shape;262;p23"/>
          <p:cNvSpPr txBox="1"/>
          <p:nvPr/>
        </p:nvSpPr>
        <p:spPr>
          <a:xfrm>
            <a:off x="1009650" y="4291161"/>
            <a:ext cx="10601325" cy="3351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50" b="1" i="0" u="none" strike="noStrike" cap="none">
                <a:solidFill>
                  <a:srgbClr val="CBD5E1"/>
                </a:solidFill>
                <a:latin typeface="Urbanist"/>
                <a:ea typeface="Urbanist"/>
                <a:cs typeface="Urbanist"/>
                <a:sym typeface="Urbanist"/>
              </a:rPr>
              <a:t>Automated Risk Dashboard:</a:t>
            </a:r>
            <a:r>
              <a:rPr lang="en-US" sz="1650" b="0" i="0" u="none" strike="noStrike" cap="none">
                <a:solidFill>
                  <a:srgbClr val="CBD5E1"/>
                </a:solidFill>
                <a:latin typeface="Urbanist"/>
                <a:ea typeface="Urbanist"/>
                <a:cs typeface="Urbanist"/>
                <a:sym typeface="Urbanist"/>
              </a:rPr>
              <a:t> Deploy real-time tracking for budget deviations and seasonal spending spikes.</a:t>
            </a:r>
            <a:endParaRPr/>
          </a:p>
        </p:txBody>
      </p:sp>
      <p:sp>
        <p:nvSpPr>
          <p:cNvPr id="263" name="Google Shape;263;p23"/>
          <p:cNvSpPr txBox="1"/>
          <p:nvPr/>
        </p:nvSpPr>
        <p:spPr>
          <a:xfrm>
            <a:off x="1009650" y="4816822"/>
            <a:ext cx="10601325" cy="3351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50" b="1" i="0" u="none" strike="noStrike" cap="none">
                <a:solidFill>
                  <a:srgbClr val="CBD5E1"/>
                </a:solidFill>
                <a:latin typeface="Urbanist"/>
                <a:ea typeface="Urbanist"/>
                <a:cs typeface="Urbanist"/>
                <a:sym typeface="Urbanist"/>
              </a:rPr>
              <a:t>Update SLA Terms:</a:t>
            </a:r>
            <a:r>
              <a:rPr lang="en-US" sz="1650" b="0" i="0" u="none" strike="noStrike" cap="none">
                <a:solidFill>
                  <a:srgbClr val="CBD5E1"/>
                </a:solidFill>
                <a:latin typeface="Urbanist"/>
                <a:ea typeface="Urbanist"/>
                <a:cs typeface="Urbanist"/>
                <a:sym typeface="Urbanist"/>
              </a:rPr>
              <a:t> Incorporate financial penalties for OTIF rates consistently falling below 65%.</a:t>
            </a:r>
            <a:endParaRPr/>
          </a:p>
        </p:txBody>
      </p:sp>
      <p:sp>
        <p:nvSpPr>
          <p:cNvPr id="264" name="Google Shape;264;p23"/>
          <p:cNvSpPr txBox="1"/>
          <p:nvPr/>
        </p:nvSpPr>
        <p:spPr>
          <a:xfrm>
            <a:off x="771525" y="913060"/>
            <a:ext cx="11381422" cy="4857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150" b="1" i="0" u="none" strike="noStrike" cap="none">
                <a:solidFill>
                  <a:srgbClr val="F8FAFC"/>
                </a:solidFill>
                <a:latin typeface="Urbanist"/>
                <a:ea typeface="Urbanist"/>
                <a:cs typeface="Urbanist"/>
                <a:sym typeface="Urbanist"/>
              </a:rPr>
              <a:t>STRATEGIC RECOMMENDATIONS</a:t>
            </a:r>
            <a:endParaRPr/>
          </a:p>
        </p:txBody>
      </p:sp>
      <p:sp>
        <p:nvSpPr>
          <p:cNvPr id="265" name="Google Shape;265;p23"/>
          <p:cNvSpPr/>
          <p:nvPr/>
        </p:nvSpPr>
        <p:spPr>
          <a:xfrm>
            <a:off x="581025" y="913060"/>
            <a:ext cx="57150" cy="485775"/>
          </a:xfrm>
          <a:prstGeom prst="rect">
            <a:avLst/>
          </a:prstGeom>
          <a:solidFill>
            <a:srgbClr val="D946EF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266" name="Google Shape;266;p23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581025" y="2801688"/>
            <a:ext cx="200025" cy="247650"/>
          </a:xfrm>
          <a:prstGeom prst="rect">
            <a:avLst/>
          </a:prstGeom>
          <a:noFill/>
          <a:ln>
            <a:noFill/>
          </a:ln>
        </p:spPr>
      </p:pic>
      <p:pic>
        <p:nvPicPr>
          <p:cNvPr id="267" name="Google Shape;267;p23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571500" y="3338393"/>
            <a:ext cx="200025" cy="247650"/>
          </a:xfrm>
          <a:prstGeom prst="rect">
            <a:avLst/>
          </a:prstGeom>
          <a:noFill/>
          <a:ln>
            <a:noFill/>
          </a:ln>
        </p:spPr>
      </p:pic>
      <p:pic>
        <p:nvPicPr>
          <p:cNvPr id="268" name="Google Shape;268;p23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571500" y="3880767"/>
            <a:ext cx="200025" cy="247650"/>
          </a:xfrm>
          <a:prstGeom prst="rect">
            <a:avLst/>
          </a:prstGeom>
          <a:noFill/>
          <a:ln>
            <a:noFill/>
          </a:ln>
        </p:spPr>
      </p:pic>
      <p:pic>
        <p:nvPicPr>
          <p:cNvPr id="269" name="Google Shape;269;p23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581024" y="4423141"/>
            <a:ext cx="200025" cy="247650"/>
          </a:xfrm>
          <a:prstGeom prst="rect">
            <a:avLst/>
          </a:prstGeom>
          <a:noFill/>
          <a:ln>
            <a:noFill/>
          </a:ln>
        </p:spPr>
      </p:pic>
      <p:pic>
        <p:nvPicPr>
          <p:cNvPr id="270" name="Google Shape;270;p23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581025" y="4953711"/>
            <a:ext cx="200025" cy="2476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20617"/>
        </a:solidFill>
        <a:effectLst/>
      </p:bgPr>
    </p:bg>
    <p:spTree>
      <p:nvGrpSpPr>
        <p:cNvPr id="1" name="Shape 2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75" name="Google Shape;275;p24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278" name="Google Shape;278;p24"/>
          <p:cNvSpPr txBox="1"/>
          <p:nvPr/>
        </p:nvSpPr>
        <p:spPr>
          <a:xfrm>
            <a:off x="4110751" y="2003077"/>
            <a:ext cx="3970496" cy="91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6000" b="1" i="0" u="none" strike="noStrike" cap="none" dirty="0">
                <a:solidFill>
                  <a:srgbClr val="F8FAFC"/>
                </a:solidFill>
                <a:latin typeface="Urbanist"/>
                <a:ea typeface="Urbanist"/>
                <a:cs typeface="Urbanist"/>
                <a:sym typeface="Urbanist"/>
              </a:rPr>
              <a:t>Questions?</a:t>
            </a:r>
            <a:endParaRPr dirty="0"/>
          </a:p>
        </p:txBody>
      </p:sp>
      <p:sp>
        <p:nvSpPr>
          <p:cNvPr id="279" name="Google Shape;279;p24"/>
          <p:cNvSpPr txBox="1"/>
          <p:nvPr/>
        </p:nvSpPr>
        <p:spPr>
          <a:xfrm>
            <a:off x="3767316" y="2985802"/>
            <a:ext cx="4657366" cy="4431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5994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0" i="0" u="none" strike="noStrike" cap="none" dirty="0">
                <a:solidFill>
                  <a:srgbClr val="94A3B8"/>
                </a:solidFill>
                <a:latin typeface="Urbanist"/>
                <a:ea typeface="Urbanist"/>
                <a:cs typeface="Urbanist"/>
                <a:sym typeface="Urbanist"/>
              </a:rPr>
              <a:t>Procurement Analytics Strategic Report</a:t>
            </a:r>
            <a:endParaRPr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523</Words>
  <Application>Microsoft Office PowerPoint</Application>
  <PresentationFormat>Widescreen</PresentationFormat>
  <Paragraphs>90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8" baseType="lpstr">
      <vt:lpstr>JetBrains Mono</vt:lpstr>
      <vt:lpstr>Calibri</vt:lpstr>
      <vt:lpstr>Urbanist SemiBold</vt:lpstr>
      <vt:lpstr>Urbanist</vt:lpstr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Nguyễn Bá Khải (31231020293)</cp:lastModifiedBy>
  <cp:revision>3</cp:revision>
  <dcterms:modified xsi:type="dcterms:W3CDTF">2026-05-06T12:09:24Z</dcterms:modified>
</cp:coreProperties>
</file>