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 panose="020B0604020202020204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SemiBold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D0135F-C7AB-493F-8C5F-AF4BD23ACE1A}">
  <a:tblStyle styleId="{C3D0135F-C7AB-493F-8C5F-AF4BD23ACE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40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85548" y="1908869"/>
            <a:ext cx="722090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Procurement Analytics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3013769"/>
            <a:ext cx="952500" cy="3810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167062" y="3528119"/>
            <a:ext cx="58578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Transforming 5,200 Purchase Orders into Strategic Insights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314825" y="4503390"/>
            <a:ext cx="3562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FY 2022 - 2024 Strategic Reporting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17750"/>
            <a:ext cx="5324475" cy="2035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17750"/>
            <a:ext cx="5324475" cy="203540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76300" y="2920505"/>
            <a:ext cx="49706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7E8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Core Challenge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876300" y="3249637"/>
            <a:ext cx="47339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Modern procurement faces volatility: rising costs, supplier delivery risks, and compliance gaps. Our current P2P cycle shows friction in invoice matching and maverick spending which strains annual budgets.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6581775" y="2921050"/>
            <a:ext cx="49706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7E8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Analytical Objectives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6581774" y="3255576"/>
            <a:ext cx="47339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Evaluate 3+ years of transaction data to gain visibility into spending patterns, monitor supplier performance KPIs, track contract effectiveness, and mitigate operational risks.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STRATEGIC PROJECT OVERVIEW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69219"/>
            <a:ext cx="3486150" cy="2918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569219"/>
            <a:ext cx="3486150" cy="2918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569219"/>
            <a:ext cx="3486150" cy="2918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66775" y="3674119"/>
            <a:ext cx="30603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7E8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5,200 Orders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66775" y="4035335"/>
            <a:ext cx="29146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Complete historical transaction records from 2022 through 2024.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4638675" y="3674119"/>
            <a:ext cx="30603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7E8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57 Data Fields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8200" y="4035335"/>
            <a:ext cx="2914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Rich metadata including Supplier Tiers, ESG scores, and Contract IDs.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8410575" y="3642642"/>
            <a:ext cx="30603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7E8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$908.8M Spend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8410575" y="4032274"/>
            <a:ext cx="29146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Managed expenditure analyzed for savings and cost avoidance opportunities.</a:t>
            </a:r>
            <a:endParaRPr dirty="0"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9306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8675" y="28930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0575" y="28930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ANALYTICAL FOUNDATION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HISTORICAL SPEND TRENDS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47B9017-BC3F-2E14-D7C4-81D35FB46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077" y="1933561"/>
            <a:ext cx="9141845" cy="40113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" name="Google Shape;135;p17"/>
          <p:cNvGraphicFramePr/>
          <p:nvPr>
            <p:extLst>
              <p:ext uri="{D42A27DB-BD31-4B8C-83A1-F6EECF244321}">
                <p14:modId xmlns:p14="http://schemas.microsoft.com/office/powerpoint/2010/main" val="1091400707"/>
              </p:ext>
            </p:extLst>
          </p:nvPr>
        </p:nvGraphicFramePr>
        <p:xfrm>
          <a:off x="581024" y="2209056"/>
          <a:ext cx="11029950" cy="3276600"/>
        </p:xfrm>
        <a:graphic>
          <a:graphicData uri="http://schemas.openxmlformats.org/drawingml/2006/table">
            <a:tbl>
              <a:tblPr firstRow="1" bandRow="1">
                <a:noFill/>
                <a:tableStyleId>{C3D0135F-C7AB-493F-8C5F-AF4BD23ACE1A}</a:tableStyleId>
              </a:tblPr>
              <a:tblGrid>
                <a:gridCol w="244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67E8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67E8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Total Spend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67E8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Total Budget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67E8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Difference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67E8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Variance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IT Software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$299,551,458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$335,363,187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-$35,811,729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4ADE8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-10.68%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Professional Svcs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$163,883,292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$184,514,931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-$20,631,639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4ADE8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-11.18%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Marketing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$137,517,425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$151,630,295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-$14,112,870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4ADE8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-9.31%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IT Hardware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$117,048,532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$129,736,172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-$12,687,640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4ADE8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-9.78%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HR &amp; Training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$90,254,182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$99,336,152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-$9,081,970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4ADE8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-9.14%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6" name="Google Shape;166;p17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EXPENDITURE &amp; BUDGET DEVIATION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4637" y="194816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14700" y="2448222"/>
            <a:ext cx="2333625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581025" y="5662910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Insight: Over-reliance on Spot contracts suggests potential for deeper strategic negotiation in Long-term agreements.</a:t>
            </a:r>
            <a:endParaRPr dirty="0"/>
          </a:p>
        </p:txBody>
      </p:sp>
      <p:sp>
        <p:nvSpPr>
          <p:cNvPr id="176" name="Google Shape;176;p18"/>
          <p:cNvSpPr txBox="1"/>
          <p:nvPr/>
        </p:nvSpPr>
        <p:spPr>
          <a:xfrm>
            <a:off x="7100887" y="2776835"/>
            <a:ext cx="22764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Spot Contracts (51.36%)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100887" y="3224510"/>
            <a:ext cx="22764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Long-term (19.83%)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7100887" y="3672185"/>
            <a:ext cx="22764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Framework (15.98%)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100887" y="4119860"/>
            <a:ext cx="22764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Master Supply (12.83%)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6865144" y="283398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6865144" y="329438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67E8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865144" y="372933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6865144" y="417701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NEGOTIATION EFFECTIVENESS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5290"/>
            <a:ext cx="110299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153965"/>
            <a:ext cx="110299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06465"/>
            <a:ext cx="5324475" cy="188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4106465"/>
            <a:ext cx="5324475" cy="188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2325290"/>
            <a:ext cx="959599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3153965"/>
            <a:ext cx="882387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81025" y="2068115"/>
            <a:ext cx="110299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Non-Preferred Suppliers ($604M Total Spend) 8.7% Savings</a:t>
            </a:r>
            <a:endParaRPr dirty="0"/>
          </a:p>
        </p:txBody>
      </p:sp>
      <p:sp>
        <p:nvSpPr>
          <p:cNvPr id="198" name="Google Shape;198;p19"/>
          <p:cNvSpPr txBox="1"/>
          <p:nvPr/>
        </p:nvSpPr>
        <p:spPr>
          <a:xfrm>
            <a:off x="581025" y="2896790"/>
            <a:ext cx="110299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Preferred Suppliers ($304M Total Spend) 8.08% Savings</a:t>
            </a:r>
            <a:endParaRPr dirty="0"/>
          </a:p>
        </p:txBody>
      </p:sp>
      <p:sp>
        <p:nvSpPr>
          <p:cNvPr id="199" name="Google Shape;199;p19"/>
          <p:cNvSpPr txBox="1"/>
          <p:nvPr/>
        </p:nvSpPr>
        <p:spPr>
          <a:xfrm>
            <a:off x="781050" y="4403829"/>
            <a:ext cx="517064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8717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Structural Anomaly</a:t>
            </a:r>
            <a:endParaRPr dirty="0"/>
          </a:p>
        </p:txBody>
      </p:sp>
      <p:sp>
        <p:nvSpPr>
          <p:cNvPr id="200" name="Google Shape;200;p19"/>
          <p:cNvSpPr txBox="1"/>
          <p:nvPr/>
        </p:nvSpPr>
        <p:spPr>
          <a:xfrm>
            <a:off x="781050" y="4727679"/>
            <a:ext cx="49244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Non-preferred vendors have higher ESG scores (61.84 vs 57.25) and faster delivery (3 days late vs 4 days for preferred).</a:t>
            </a:r>
            <a:endParaRPr dirty="0"/>
          </a:p>
        </p:txBody>
      </p:sp>
      <p:sp>
        <p:nvSpPr>
          <p:cNvPr id="201" name="Google Shape;201;p19"/>
          <p:cNvSpPr txBox="1"/>
          <p:nvPr/>
        </p:nvSpPr>
        <p:spPr>
          <a:xfrm>
            <a:off x="6486525" y="4403829"/>
            <a:ext cx="517064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Recommendation</a:t>
            </a:r>
            <a:endParaRPr dirty="0"/>
          </a:p>
        </p:txBody>
      </p:sp>
      <p:sp>
        <p:nvSpPr>
          <p:cNvPr id="202" name="Google Shape;202;p19"/>
          <p:cNvSpPr txBox="1"/>
          <p:nvPr/>
        </p:nvSpPr>
        <p:spPr>
          <a:xfrm>
            <a:off x="6486525" y="4727679"/>
            <a:ext cx="49244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Upgrade high-performing non-preferred vendors to strategic priority status to formalize high-value relationships.</a:t>
            </a:r>
            <a:endParaRPr dirty="0"/>
          </a:p>
        </p:txBody>
      </p:sp>
      <p:sp>
        <p:nvSpPr>
          <p:cNvPr id="203" name="Google Shape;203;p19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PREFERRED SUPPLIER PARADOX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581025" y="913060"/>
            <a:ext cx="519064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OTIF PERFORMANCE</a:t>
            </a:r>
            <a:endParaRPr dirty="0"/>
          </a:p>
        </p:txBody>
      </p:sp>
      <p:sp>
        <p:nvSpPr>
          <p:cNvPr id="211" name="Google Shape;211;p20"/>
          <p:cNvSpPr/>
          <p:nvPr/>
        </p:nvSpPr>
        <p:spPr>
          <a:xfrm>
            <a:off x="390525" y="913060"/>
            <a:ext cx="57150" cy="485775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81025" y="1789210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7E8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Delivery Realities</a:t>
            </a:r>
            <a:endParaRPr dirty="0"/>
          </a:p>
        </p:txBody>
      </p:sp>
      <p:sp>
        <p:nvSpPr>
          <p:cNvPr id="213" name="Google Shape;213;p20"/>
          <p:cNvSpPr txBox="1"/>
          <p:nvPr/>
        </p:nvSpPr>
        <p:spPr>
          <a:xfrm>
            <a:off x="576261" y="2229145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Overall average on-time delivery rate sits at only 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64.13%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Even tier-1 logistics partners average 3-5 days late on major orders.</a:t>
            </a:r>
            <a:endParaRPr dirty="0"/>
          </a:p>
        </p:txBody>
      </p:sp>
      <p:sp>
        <p:nvSpPr>
          <p:cNvPr id="214" name="Google Shape;214;p20"/>
          <p:cNvSpPr txBox="1"/>
          <p:nvPr/>
        </p:nvSpPr>
        <p:spPr>
          <a:xfrm>
            <a:off x="576258" y="2979093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Contract type influences speed: Long-term contracts show slightly better lead times (35 days) vs Framework (36 days).</a:t>
            </a:r>
            <a:endParaRPr dirty="0"/>
          </a:p>
        </p:txBody>
      </p:sp>
      <p:sp>
        <p:nvSpPr>
          <p:cNvPr id="215" name="Google Shape;215;p20"/>
          <p:cNvSpPr txBox="1"/>
          <p:nvPr/>
        </p:nvSpPr>
        <p:spPr>
          <a:xfrm>
            <a:off x="576257" y="3729041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Strategic shift required: Integrate financial penalties into SLAs for delivery rates falling below 65%.</a:t>
            </a:r>
            <a:endParaRPr dirty="0"/>
          </a:p>
        </p:txBody>
      </p:sp>
      <p:pic>
        <p:nvPicPr>
          <p:cNvPr id="216" name="Google Shape;216;p20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5771673" y="913060"/>
            <a:ext cx="6086475" cy="5031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4827" y="2629197"/>
            <a:ext cx="3308895" cy="2798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1477" y="2629197"/>
            <a:ext cx="3308895" cy="2798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18127" y="2629197"/>
            <a:ext cx="3308895" cy="279841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1155352" y="3019722"/>
            <a:ext cx="2527845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10.8%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155352" y="4219872"/>
            <a:ext cx="25278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Maverick Spend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155352" y="4591347"/>
            <a:ext cx="252784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$98.19M bypassed approval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832002" y="3019722"/>
            <a:ext cx="2527845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26.3%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4832002" y="4219872"/>
            <a:ext cx="25278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Unmatched Invoices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4832002" y="4591347"/>
            <a:ext cx="252784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Severe payment risk indicator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8508652" y="3019722"/>
            <a:ext cx="2527845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15.5%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8508652" y="4219872"/>
            <a:ext cx="25278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Overdue Payments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8508652" y="4591347"/>
            <a:ext cx="252784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Straining supplier relationships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P2P COMPLIANCE RISKS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2333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225" y="219953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4962525" y="2615951"/>
            <a:ext cx="698087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EF444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Atlantic Raw Materials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962525" y="3235076"/>
            <a:ext cx="6648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Vendor ID: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SUP-011 (Risk: High)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4962525" y="5337720"/>
            <a:ext cx="6648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ACTION REQUIRED: IMMEDIATE ACCOUNT RECONCILIATION</a:t>
            </a:r>
            <a:endParaRPr dirty="0"/>
          </a:p>
        </p:txBody>
      </p:sp>
      <p:sp>
        <p:nvSpPr>
          <p:cNvPr id="246" name="Google Shape;246;p22"/>
          <p:cNvSpPr txBox="1"/>
          <p:nvPr/>
        </p:nvSpPr>
        <p:spPr>
          <a:xfrm>
            <a:off x="5391150" y="3760737"/>
            <a:ext cx="6219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16 Red-Flagged Orders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currently in system.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5391150" y="4286398"/>
            <a:ext cx="6219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$6.2M Unpaid/Disputed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amounts pending.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5391150" y="4812059"/>
            <a:ext cx="62198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Represents 19.8% of total department payment risk.</a:t>
            </a:r>
            <a:endParaRPr dirty="0"/>
          </a:p>
        </p:txBody>
      </p:sp>
      <p:sp>
        <p:nvSpPr>
          <p:cNvPr id="249" name="Google Shape;249;p22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URGENT RISK NOTIFICATION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62525" y="37607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62525" y="428639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62525" y="4812059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391" y="1496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1009650" y="2714178"/>
            <a:ext cx="10601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Supplier Optimization: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Upgrade non-preferred vendors with high ESG and savings rates to strategic status.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009650" y="3239839"/>
            <a:ext cx="10601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Renegotiate Contracts: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Shift volume to Long-term contracts with tiered discounts to reduce Spot dependency.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1009650" y="3765500"/>
            <a:ext cx="10601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Tighten P2P Controls: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Implement ERP hard stops for PO approval to reduce Maverick Spend below 5%.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009650" y="4291161"/>
            <a:ext cx="10601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Automated Risk Dashboard: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Deploy real-time tracking for budget deviations and seasonal spending spikes.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1009650" y="4816822"/>
            <a:ext cx="10601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Update SLA Terms: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Incorporate financial penalties for OTIF rates consistently falling below 65%.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STRATEGIC RECOMMENDATIONS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0168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3839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8076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4" y="442314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953711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4110751" y="2003077"/>
            <a:ext cx="397049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 dirty="0"/>
          </a:p>
        </p:txBody>
      </p:sp>
      <p:sp>
        <p:nvSpPr>
          <p:cNvPr id="279" name="Google Shape;279;p24"/>
          <p:cNvSpPr txBox="1"/>
          <p:nvPr/>
        </p:nvSpPr>
        <p:spPr>
          <a:xfrm>
            <a:off x="3767316" y="2985802"/>
            <a:ext cx="4657366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Procurement Analytics Strategic Report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520</Words>
  <Application>Microsoft Office PowerPoint</Application>
  <PresentationFormat>Widescreen</PresentationFormat>
  <Paragraphs>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Urbanist SemiBold</vt:lpstr>
      <vt:lpstr>Arial</vt:lpstr>
      <vt:lpstr>Urbanist</vt:lpstr>
      <vt:lpstr>JetBrains Mono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Nguyễn Bá Khải (31231020293)</cp:lastModifiedBy>
  <cp:revision>2</cp:revision>
  <dcterms:modified xsi:type="dcterms:W3CDTF">2026-05-06T06:57:57Z</dcterms:modified>
</cp:coreProperties>
</file>